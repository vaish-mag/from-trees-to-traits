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Two topics: PhyloG2P (finding which DNA change causes a body feature) and pan-genome graphs (a better way to store many genomes together). Both done on real downloaded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PhyloG2P explained in plain words. The key point is the tree: shared letters only count as evidence when the species are distant relatives.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pan-genome graphs. Shared parts share a box; differences open a bubble. The bubble in the diagram holds an insertion - four extra letters.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the aim, the gene, the feature, and the two control animals. The tree proves echolocation appeared twice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data sources and the five steps, in plain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the DNA drawing. Panel C is the key result - a single letter change that bats and whales both made, on their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main result. p = 0.0127 means about a 1 in 79 chance of seeing this by chance, so it is unlikely to be an accident.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the graph. 36% of the sequence is off the human path - that is reference bias measured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conclusion. Three ear genes agree, two control genes stay empty, and the graph shows 36% more sequence than a single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43A"/>
        </a:solidFill>
      </p:bgPr>
    </p:bg>
    <p:spTree>
      <p:nvGrpSpPr>
        <p:cNvPr id="1" name=""/>
        <p:cNvGrpSpPr/>
        <p:nvPr/>
      </p:nvGrpSpPr>
      <p:grpSpPr>
        <a:xfrm>
          <a:off x="0" y="0"/>
          <a:ext cx="0" cy="0"/>
          <a:chOff x="0" y="0"/>
          <a:chExt cx="0" cy="0"/>
        </a:xfrm>
      </p:grpSpPr>
      <p:sp>
        <p:nvSpPr>
          <p:cNvPr id="2" name="Shape 0"/>
          <p:cNvSpPr/>
          <p:nvPr/>
        </p:nvSpPr>
        <p:spPr>
          <a:xfrm>
            <a:off x="8915400" y="548640"/>
            <a:ext cx="2743200" cy="5760720"/>
          </a:xfrm>
          <a:prstGeom prst="roundRect">
            <a:avLst>
              <a:gd name="adj" fmla="val 4667"/>
            </a:avLst>
          </a:prstGeom>
          <a:solidFill>
            <a:srgbClr val="FFFFFF"/>
          </a:solidFill>
          <a:ln/>
        </p:spPr>
      </p:sp>
      <p:pic>
        <p:nvPicPr>
          <p:cNvPr id="3" name="Image 0" descr="C:\Users\varad\AppData\Local\Temp\claude\C--Users-varad-OneDrive-Desktop-final-bio\5a01b15e-87b4-4afb-9bbf-d8d6ec6e1673\scratchpad\assets\helix.png">    </p:cNvPr>
          <p:cNvPicPr>
            <a:picLocks noChangeAspect="1"/>
          </p:cNvPicPr>
          <p:nvPr/>
        </p:nvPicPr>
        <p:blipFill>
          <a:blip r:embed="rId1"/>
          <a:stretch>
            <a:fillRect/>
          </a:stretch>
        </p:blipFill>
        <p:spPr>
          <a:xfrm>
            <a:off x="9528048" y="868680"/>
            <a:ext cx="1517904" cy="5120640"/>
          </a:xfrm>
          <a:prstGeom prst="rect">
            <a:avLst/>
          </a:prstGeom>
        </p:spPr>
      </p:pic>
      <p:sp>
        <p:nvSpPr>
          <p:cNvPr id="4" name="Text 1"/>
          <p:cNvSpPr/>
          <p:nvPr/>
        </p:nvSpPr>
        <p:spPr>
          <a:xfrm>
            <a:off x="685800" y="960120"/>
            <a:ext cx="7955280" cy="274320"/>
          </a:xfrm>
          <a:prstGeom prst="rect">
            <a:avLst/>
          </a:prstGeom>
          <a:noFill/>
          <a:ln/>
        </p:spPr>
        <p:txBody>
          <a:bodyPr wrap="square" lIns="0" tIns="0" rIns="0" bIns="0" rtlCol="0" anchor="ctr"/>
          <a:lstStyle/>
          <a:p>
            <a:pPr indent="0" marL="0">
              <a:buNone/>
            </a:pPr>
            <a:r>
              <a:rPr lang="en-US" sz="1200" b="1" spc="200" kern="0" dirty="0">
                <a:solidFill>
                  <a:srgbClr val="F0A202"/>
                </a:solidFill>
                <a:latin typeface="Calibri" pitchFamily="34" charset="0"/>
                <a:ea typeface="Calibri" pitchFamily="34" charset="-122"/>
                <a:cs typeface="Calibri" pitchFamily="34" charset="-120"/>
              </a:rPr>
              <a:t>MINI-PROJECT  ·  COMPARATIVE GENOMICS</a:t>
            </a:r>
            <a:endParaRPr lang="en-US" sz="1200" dirty="0"/>
          </a:p>
        </p:txBody>
      </p:sp>
      <p:sp>
        <p:nvSpPr>
          <p:cNvPr id="5" name="Text 2"/>
          <p:cNvSpPr/>
          <p:nvPr/>
        </p:nvSpPr>
        <p:spPr>
          <a:xfrm>
            <a:off x="658368" y="1371600"/>
            <a:ext cx="8046720" cy="86868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From Trees to Traits</a:t>
            </a:r>
            <a:endParaRPr lang="en-US" sz="4600" dirty="0"/>
          </a:p>
        </p:txBody>
      </p:sp>
      <p:sp>
        <p:nvSpPr>
          <p:cNvPr id="6" name="Text 3"/>
          <p:cNvSpPr/>
          <p:nvPr/>
        </p:nvSpPr>
        <p:spPr>
          <a:xfrm>
            <a:off x="685800" y="2286000"/>
            <a:ext cx="7955280" cy="365760"/>
          </a:xfrm>
          <a:prstGeom prst="rect">
            <a:avLst/>
          </a:prstGeom>
          <a:noFill/>
          <a:ln/>
        </p:spPr>
        <p:txBody>
          <a:bodyPr wrap="square" lIns="0" tIns="0" rIns="0" bIns="0" rtlCol="0" anchor="ctr"/>
          <a:lstStyle/>
          <a:p>
            <a:pPr indent="0" marL="0">
              <a:buNone/>
            </a:pPr>
            <a:r>
              <a:rPr lang="en-US" sz="1600" dirty="0">
                <a:solidFill>
                  <a:srgbClr val="9FC1E8"/>
                </a:solidFill>
                <a:latin typeface="Calibri" pitchFamily="34" charset="0"/>
                <a:ea typeface="Calibri" pitchFamily="34" charset="-122"/>
                <a:cs typeface="Calibri" pitchFamily="34" charset="-120"/>
              </a:rPr>
              <a:t>Finding the DNA behind a body feature, by comparing many animals</a:t>
            </a:r>
            <a:endParaRPr lang="en-US" sz="1600" dirty="0"/>
          </a:p>
        </p:txBody>
      </p:sp>
      <p:sp>
        <p:nvSpPr>
          <p:cNvPr id="7" name="Text 4"/>
          <p:cNvSpPr/>
          <p:nvPr/>
        </p:nvSpPr>
        <p:spPr>
          <a:xfrm>
            <a:off x="685800" y="2761488"/>
            <a:ext cx="7772400" cy="731520"/>
          </a:xfrm>
          <a:prstGeom prst="rect">
            <a:avLst/>
          </a:prstGeom>
          <a:noFill/>
          <a:ln/>
        </p:spPr>
        <p:txBody>
          <a:bodyPr wrap="square" lIns="0" tIns="0" rIns="0" bIns="0" rtlCol="0" anchor="t"/>
          <a:lstStyle/>
          <a:p>
            <a:pPr indent="0" marL="0">
              <a:lnSpc>
                <a:spcPts val="1800"/>
              </a:lnSpc>
              <a:buNone/>
            </a:pPr>
            <a:r>
              <a:rPr lang="en-US" sz="1250" dirty="0">
                <a:solidFill>
                  <a:srgbClr val="C6D4E4"/>
                </a:solidFill>
                <a:latin typeface="Calibri" pitchFamily="34" charset="0"/>
                <a:ea typeface="Calibri" pitchFamily="34" charset="-122"/>
                <a:cs typeface="Calibri" pitchFamily="34" charset="-120"/>
              </a:rPr>
              <a:t>Bats and dolphins both hunt using echoes. They are not close relatives, so they learned this on their own. We looked for the DNA changes they made twice, separately.</a:t>
            </a:r>
            <a:endParaRPr lang="en-US" sz="1250" dirty="0"/>
          </a:p>
        </p:txBody>
      </p:sp>
      <p:sp>
        <p:nvSpPr>
          <p:cNvPr id="8" name="Text 5"/>
          <p:cNvSpPr/>
          <p:nvPr/>
        </p:nvSpPr>
        <p:spPr>
          <a:xfrm>
            <a:off x="685800" y="3794760"/>
            <a:ext cx="7955280" cy="256032"/>
          </a:xfrm>
          <a:prstGeom prst="rect">
            <a:avLst/>
          </a:prstGeom>
          <a:noFill/>
          <a:ln/>
        </p:spPr>
        <p:txBody>
          <a:bodyPr wrap="square" lIns="0" tIns="0" rIns="0" bIns="0" rtlCol="0" anchor="ctr"/>
          <a:lstStyle/>
          <a:p>
            <a:pPr indent="0" marL="0">
              <a:buNone/>
            </a:pPr>
            <a:r>
              <a:rPr lang="en-US" sz="1100" b="1" spc="160" kern="0" dirty="0">
                <a:solidFill>
                  <a:srgbClr val="F0A202"/>
                </a:solidFill>
                <a:latin typeface="Calibri" pitchFamily="34" charset="0"/>
                <a:ea typeface="Calibri" pitchFamily="34" charset="-122"/>
                <a:cs typeface="Calibri" pitchFamily="34" charset="-120"/>
              </a:rPr>
              <a:t>GROUP MEMBERS</a:t>
            </a:r>
            <a:endParaRPr lang="en-US" sz="1100" dirty="0"/>
          </a:p>
        </p:txBody>
      </p:sp>
      <p:sp>
        <p:nvSpPr>
          <p:cNvPr id="9" name="Shape 6"/>
          <p:cNvSpPr/>
          <p:nvPr/>
        </p:nvSpPr>
        <p:spPr>
          <a:xfrm>
            <a:off x="713232" y="4187952"/>
            <a:ext cx="237744" cy="237744"/>
          </a:xfrm>
          <a:prstGeom prst="ellipse">
            <a:avLst/>
          </a:prstGeom>
          <a:solidFill>
            <a:srgbClr val="C1272D"/>
          </a:solidFill>
          <a:ln/>
        </p:spPr>
      </p:sp>
      <p:sp>
        <p:nvSpPr>
          <p:cNvPr id="10" name="Text 7"/>
          <p:cNvSpPr/>
          <p:nvPr/>
        </p:nvSpPr>
        <p:spPr>
          <a:xfrm>
            <a:off x="1060704" y="4133088"/>
            <a:ext cx="3566160" cy="347472"/>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Vaishnavi Magadum</a:t>
            </a:r>
            <a:endParaRPr lang="en-US" sz="1400" dirty="0"/>
          </a:p>
        </p:txBody>
      </p:sp>
      <p:sp>
        <p:nvSpPr>
          <p:cNvPr id="11" name="Shape 8"/>
          <p:cNvSpPr/>
          <p:nvPr/>
        </p:nvSpPr>
        <p:spPr>
          <a:xfrm>
            <a:off x="4690872" y="4187952"/>
            <a:ext cx="237744" cy="237744"/>
          </a:xfrm>
          <a:prstGeom prst="ellipse">
            <a:avLst/>
          </a:prstGeom>
          <a:solidFill>
            <a:srgbClr val="C1272D"/>
          </a:solidFill>
          <a:ln/>
        </p:spPr>
      </p:sp>
      <p:sp>
        <p:nvSpPr>
          <p:cNvPr id="12" name="Text 9"/>
          <p:cNvSpPr/>
          <p:nvPr/>
        </p:nvSpPr>
        <p:spPr>
          <a:xfrm>
            <a:off x="5038344" y="4133088"/>
            <a:ext cx="3566160" cy="347472"/>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Adarsh Madivala</a:t>
            </a:r>
            <a:endParaRPr lang="en-US" sz="1400" dirty="0"/>
          </a:p>
        </p:txBody>
      </p:sp>
      <p:sp>
        <p:nvSpPr>
          <p:cNvPr id="13" name="Shape 10"/>
          <p:cNvSpPr/>
          <p:nvPr/>
        </p:nvSpPr>
        <p:spPr>
          <a:xfrm>
            <a:off x="713232" y="4754880"/>
            <a:ext cx="237744" cy="237744"/>
          </a:xfrm>
          <a:prstGeom prst="ellipse">
            <a:avLst/>
          </a:prstGeom>
          <a:solidFill>
            <a:srgbClr val="C1272D"/>
          </a:solidFill>
          <a:ln/>
        </p:spPr>
      </p:sp>
      <p:sp>
        <p:nvSpPr>
          <p:cNvPr id="14" name="Text 11"/>
          <p:cNvSpPr/>
          <p:nvPr/>
        </p:nvSpPr>
        <p:spPr>
          <a:xfrm>
            <a:off x="1060704" y="4700016"/>
            <a:ext cx="3566160" cy="347472"/>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Bhavya Pandya</a:t>
            </a:r>
            <a:endParaRPr lang="en-US" sz="1400" dirty="0"/>
          </a:p>
        </p:txBody>
      </p:sp>
      <p:sp>
        <p:nvSpPr>
          <p:cNvPr id="15" name="Shape 12"/>
          <p:cNvSpPr/>
          <p:nvPr/>
        </p:nvSpPr>
        <p:spPr>
          <a:xfrm>
            <a:off x="4690872" y="4754880"/>
            <a:ext cx="237744" cy="237744"/>
          </a:xfrm>
          <a:prstGeom prst="ellipse">
            <a:avLst/>
          </a:prstGeom>
          <a:solidFill>
            <a:srgbClr val="C1272D"/>
          </a:solidFill>
          <a:ln/>
        </p:spPr>
      </p:sp>
      <p:sp>
        <p:nvSpPr>
          <p:cNvPr id="16" name="Text 13"/>
          <p:cNvSpPr/>
          <p:nvPr/>
        </p:nvSpPr>
        <p:spPr>
          <a:xfrm>
            <a:off x="5038344" y="4700016"/>
            <a:ext cx="3566160" cy="347472"/>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Avatar Pacharane</a:t>
            </a:r>
            <a:endParaRPr lang="en-US" sz="1400" dirty="0"/>
          </a:p>
        </p:txBody>
      </p:sp>
      <p:sp>
        <p:nvSpPr>
          <p:cNvPr id="17" name="Shape 14"/>
          <p:cNvSpPr/>
          <p:nvPr/>
        </p:nvSpPr>
        <p:spPr>
          <a:xfrm>
            <a:off x="713232" y="5321808"/>
            <a:ext cx="237744" cy="237744"/>
          </a:xfrm>
          <a:prstGeom prst="ellipse">
            <a:avLst/>
          </a:prstGeom>
          <a:solidFill>
            <a:srgbClr val="C1272D"/>
          </a:solidFill>
          <a:ln/>
        </p:spPr>
      </p:sp>
      <p:sp>
        <p:nvSpPr>
          <p:cNvPr id="18" name="Text 15"/>
          <p:cNvSpPr/>
          <p:nvPr/>
        </p:nvSpPr>
        <p:spPr>
          <a:xfrm>
            <a:off x="1060704" y="5266944"/>
            <a:ext cx="3566160" cy="347472"/>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Sakshi Paradkar</a:t>
            </a:r>
            <a:endParaRPr lang="en-US" sz="1400" dirty="0"/>
          </a:p>
        </p:txBody>
      </p:sp>
      <p:sp>
        <p:nvSpPr>
          <p:cNvPr id="19" name="Text 16"/>
          <p:cNvSpPr/>
          <p:nvPr/>
        </p:nvSpPr>
        <p:spPr>
          <a:xfrm>
            <a:off x="685800" y="5943600"/>
            <a:ext cx="7955280" cy="274320"/>
          </a:xfrm>
          <a:prstGeom prst="rect">
            <a:avLst/>
          </a:prstGeom>
          <a:noFill/>
          <a:ln/>
        </p:spPr>
        <p:txBody>
          <a:bodyPr wrap="square" lIns="0" tIns="0" rIns="0" bIns="0" rtlCol="0" anchor="ctr"/>
          <a:lstStyle/>
          <a:p>
            <a:pPr indent="0" marL="0">
              <a:buNone/>
            </a:pPr>
            <a:r>
              <a:rPr lang="en-US" sz="1100" dirty="0">
                <a:solidFill>
                  <a:srgbClr val="8FA6BE"/>
                </a:solidFill>
                <a:latin typeface="Calibri" pitchFamily="34" charset="0"/>
                <a:ea typeface="Calibri" pitchFamily="34" charset="-122"/>
                <a:cs typeface="Calibri" pitchFamily="34" charset="-120"/>
              </a:rPr>
              <a:t>Gene: prestin (SLC26A5)  ·  10 animals  ·  all data downloaded from public databases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548640" y="310896"/>
            <a:ext cx="11064240" cy="566928"/>
          </a:xfrm>
          <a:prstGeom prst="rect">
            <a:avLst/>
          </a:prstGeom>
          <a:noFill/>
          <a:ln/>
        </p:spPr>
        <p:txBody>
          <a:bodyPr wrap="square" lIns="0" tIns="0" rIns="0" bIns="0" rtlCol="0" anchor="ctr"/>
          <a:lstStyle/>
          <a:p>
            <a:pPr indent="0" marL="0">
              <a:buNone/>
            </a:pPr>
            <a:r>
              <a:rPr lang="en-US" sz="3200" b="1" dirty="0">
                <a:solidFill>
                  <a:srgbClr val="10243A"/>
                </a:solidFill>
                <a:latin typeface="Cambria" pitchFamily="34" charset="0"/>
                <a:ea typeface="Cambria" pitchFamily="34" charset="-122"/>
                <a:cs typeface="Cambria" pitchFamily="34" charset="-120"/>
              </a:rPr>
              <a:t>Topic 1: What is PhyloG2P?</a:t>
            </a:r>
            <a:endParaRPr lang="en-US" sz="3200" dirty="0"/>
          </a:p>
        </p:txBody>
      </p:sp>
      <p:sp>
        <p:nvSpPr>
          <p:cNvPr id="3" name="Text 1"/>
          <p:cNvSpPr/>
          <p:nvPr/>
        </p:nvSpPr>
        <p:spPr>
          <a:xfrm>
            <a:off x="566928" y="896112"/>
            <a:ext cx="11064240" cy="310896"/>
          </a:xfrm>
          <a:prstGeom prst="rect">
            <a:avLst/>
          </a:prstGeom>
          <a:noFill/>
          <a:ln/>
        </p:spPr>
        <p:txBody>
          <a:bodyPr wrap="square" lIns="0" tIns="0" rIns="0" bIns="0" rtlCol="0" anchor="ctr"/>
          <a:lstStyle/>
          <a:p>
            <a:pPr indent="0" marL="0">
              <a:buNone/>
            </a:pPr>
            <a:r>
              <a:rPr lang="en-US" sz="1400" dirty="0">
                <a:solidFill>
                  <a:srgbClr val="5A6672"/>
                </a:solidFill>
                <a:latin typeface="Calibri" pitchFamily="34" charset="0"/>
                <a:ea typeface="Calibri" pitchFamily="34" charset="-122"/>
                <a:cs typeface="Calibri" pitchFamily="34" charset="-120"/>
              </a:rPr>
              <a:t>A method to find which change in the DNA causes a feature in the body — by comparing many different animals.</a:t>
            </a:r>
            <a:endParaRPr lang="en-US" sz="1400" dirty="0"/>
          </a:p>
        </p:txBody>
      </p:sp>
      <p:sp>
        <p:nvSpPr>
          <p:cNvPr id="4" name="Shape 2"/>
          <p:cNvSpPr/>
          <p:nvPr/>
        </p:nvSpPr>
        <p:spPr>
          <a:xfrm>
            <a:off x="548640" y="1417320"/>
            <a:ext cx="1737360" cy="1207008"/>
          </a:xfrm>
          <a:prstGeom prst="roundRect">
            <a:avLst>
              <a:gd name="adj" fmla="val 7576"/>
            </a:avLst>
          </a:prstGeom>
          <a:solidFill>
            <a:srgbClr val="FFFFFF"/>
          </a:solidFill>
          <a:ln/>
          <a:effectLst>
            <a:outerShdw sx="100000" sy="100000" kx="0" ky="0" algn="bl" rotWithShape="0" blurRad="127000" dist="19050" dir="5400000">
              <a:srgbClr val="9BA9B8">
                <a:alpha val="28000"/>
              </a:srgbClr>
            </a:outerShdw>
          </a:effectLst>
        </p:spPr>
      </p:sp>
      <p:sp>
        <p:nvSpPr>
          <p:cNvPr id="5" name="Text 3"/>
          <p:cNvSpPr/>
          <p:nvPr/>
        </p:nvSpPr>
        <p:spPr>
          <a:xfrm>
            <a:off x="548640" y="1517904"/>
            <a:ext cx="1737360" cy="402336"/>
          </a:xfrm>
          <a:prstGeom prst="rect">
            <a:avLst/>
          </a:prstGeom>
          <a:noFill/>
          <a:ln/>
        </p:spPr>
        <p:txBody>
          <a:bodyPr wrap="square" lIns="0" tIns="0" rIns="0" bIns="0" rtlCol="0" anchor="ctr"/>
          <a:lstStyle/>
          <a:p>
            <a:pPr algn="ctr" indent="0" marL="0">
              <a:buNone/>
            </a:pPr>
            <a:r>
              <a:rPr lang="en-US" sz="2100" b="1" dirty="0">
                <a:solidFill>
                  <a:srgbClr val="C1272D"/>
                </a:solidFill>
                <a:latin typeface="Cambria" pitchFamily="34" charset="0"/>
                <a:ea typeface="Cambria" pitchFamily="34" charset="-122"/>
                <a:cs typeface="Cambria" pitchFamily="34" charset="-120"/>
              </a:rPr>
              <a:t>Phylo</a:t>
            </a:r>
            <a:endParaRPr lang="en-US" sz="2100" dirty="0"/>
          </a:p>
        </p:txBody>
      </p:sp>
      <p:sp>
        <p:nvSpPr>
          <p:cNvPr id="6" name="Text 4"/>
          <p:cNvSpPr/>
          <p:nvPr/>
        </p:nvSpPr>
        <p:spPr>
          <a:xfrm>
            <a:off x="640080" y="1938528"/>
            <a:ext cx="1554480" cy="640080"/>
          </a:xfrm>
          <a:prstGeom prst="rect">
            <a:avLst/>
          </a:prstGeom>
          <a:noFill/>
          <a:ln/>
        </p:spPr>
        <p:txBody>
          <a:bodyPr wrap="square" lIns="0" tIns="0" rIns="0" bIns="0" rtlCol="0" anchor="t"/>
          <a:lstStyle/>
          <a:p>
            <a:pPr algn="ctr" indent="0" marL="0">
              <a:lnSpc>
                <a:spcPts val="1300"/>
              </a:lnSpc>
              <a:buNone/>
            </a:pPr>
            <a:r>
              <a:rPr lang="en-US" sz="1050" dirty="0">
                <a:solidFill>
                  <a:srgbClr val="1B2733"/>
                </a:solidFill>
                <a:latin typeface="Calibri" pitchFamily="34" charset="0"/>
                <a:ea typeface="Calibri" pitchFamily="34" charset="-122"/>
                <a:cs typeface="Calibri" pitchFamily="34" charset="-120"/>
              </a:rPr>
              <a:t>the family tree</a:t>
            </a:r>
            <a:endParaRPr lang="en-US" sz="1050" dirty="0"/>
          </a:p>
          <a:p>
            <a:pPr algn="ctr" indent="0" marL="0">
              <a:lnSpc>
                <a:spcPts val="1300"/>
              </a:lnSpc>
              <a:buNone/>
            </a:pPr>
            <a:r>
              <a:rPr lang="en-US" sz="1050" dirty="0">
                <a:solidFill>
                  <a:srgbClr val="1B2733"/>
                </a:solidFill>
                <a:latin typeface="Calibri" pitchFamily="34" charset="0"/>
                <a:ea typeface="Calibri" pitchFamily="34" charset="-122"/>
                <a:cs typeface="Calibri" pitchFamily="34" charset="-120"/>
              </a:rPr>
              <a:t>of animals</a:t>
            </a:r>
            <a:endParaRPr lang="en-US" sz="1050" dirty="0"/>
          </a:p>
        </p:txBody>
      </p:sp>
      <p:sp>
        <p:nvSpPr>
          <p:cNvPr id="7" name="Shape 5"/>
          <p:cNvSpPr/>
          <p:nvPr/>
        </p:nvSpPr>
        <p:spPr>
          <a:xfrm>
            <a:off x="2432304" y="1417320"/>
            <a:ext cx="1737360" cy="1207008"/>
          </a:xfrm>
          <a:prstGeom prst="roundRect">
            <a:avLst>
              <a:gd name="adj" fmla="val 7576"/>
            </a:avLst>
          </a:prstGeom>
          <a:solidFill>
            <a:srgbClr val="FFFFFF"/>
          </a:solidFill>
          <a:ln/>
          <a:effectLst>
            <a:outerShdw sx="100000" sy="100000" kx="0" ky="0" algn="bl" rotWithShape="0" blurRad="127000" dist="19050" dir="5400000">
              <a:srgbClr val="9BA9B8">
                <a:alpha val="28000"/>
              </a:srgbClr>
            </a:outerShdw>
          </a:effectLst>
        </p:spPr>
      </p:sp>
      <p:sp>
        <p:nvSpPr>
          <p:cNvPr id="8" name="Text 6"/>
          <p:cNvSpPr/>
          <p:nvPr/>
        </p:nvSpPr>
        <p:spPr>
          <a:xfrm>
            <a:off x="2432304" y="1517904"/>
            <a:ext cx="1737360" cy="402336"/>
          </a:xfrm>
          <a:prstGeom prst="rect">
            <a:avLst/>
          </a:prstGeom>
          <a:noFill/>
          <a:ln/>
        </p:spPr>
        <p:txBody>
          <a:bodyPr wrap="square" lIns="0" tIns="0" rIns="0" bIns="0" rtlCol="0" anchor="ctr"/>
          <a:lstStyle/>
          <a:p>
            <a:pPr algn="ctr" indent="0" marL="0">
              <a:buNone/>
            </a:pPr>
            <a:r>
              <a:rPr lang="en-US" sz="2100" b="1" dirty="0">
                <a:solidFill>
                  <a:srgbClr val="2E7DD1"/>
                </a:solidFill>
                <a:latin typeface="Cambria" pitchFamily="34" charset="0"/>
                <a:ea typeface="Cambria" pitchFamily="34" charset="-122"/>
                <a:cs typeface="Cambria" pitchFamily="34" charset="-120"/>
              </a:rPr>
              <a:t>G</a:t>
            </a:r>
            <a:endParaRPr lang="en-US" sz="2100" dirty="0"/>
          </a:p>
        </p:txBody>
      </p:sp>
      <p:sp>
        <p:nvSpPr>
          <p:cNvPr id="9" name="Text 7"/>
          <p:cNvSpPr/>
          <p:nvPr/>
        </p:nvSpPr>
        <p:spPr>
          <a:xfrm>
            <a:off x="2523744" y="1938528"/>
            <a:ext cx="1554480" cy="640080"/>
          </a:xfrm>
          <a:prstGeom prst="rect">
            <a:avLst/>
          </a:prstGeom>
          <a:noFill/>
          <a:ln/>
        </p:spPr>
        <p:txBody>
          <a:bodyPr wrap="square" lIns="0" tIns="0" rIns="0" bIns="0" rtlCol="0" anchor="t"/>
          <a:lstStyle/>
          <a:p>
            <a:pPr algn="ctr" indent="0" marL="0">
              <a:lnSpc>
                <a:spcPts val="1300"/>
              </a:lnSpc>
              <a:buNone/>
            </a:pPr>
            <a:r>
              <a:rPr lang="en-US" sz="1050" dirty="0">
                <a:solidFill>
                  <a:srgbClr val="1B2733"/>
                </a:solidFill>
                <a:latin typeface="Calibri" pitchFamily="34" charset="0"/>
                <a:ea typeface="Calibri" pitchFamily="34" charset="-122"/>
                <a:cs typeface="Calibri" pitchFamily="34" charset="-120"/>
              </a:rPr>
              <a:t>Genotype</a:t>
            </a:r>
            <a:endParaRPr lang="en-US" sz="1050" dirty="0"/>
          </a:p>
          <a:p>
            <a:pPr algn="ctr" indent="0" marL="0">
              <a:lnSpc>
                <a:spcPts val="1300"/>
              </a:lnSpc>
              <a:buNone/>
            </a:pPr>
            <a:r>
              <a:rPr lang="en-US" sz="1050" dirty="0">
                <a:solidFill>
                  <a:srgbClr val="1B2733"/>
                </a:solidFill>
                <a:latin typeface="Calibri" pitchFamily="34" charset="0"/>
                <a:ea typeface="Calibri" pitchFamily="34" charset="-122"/>
                <a:cs typeface="Calibri" pitchFamily="34" charset="-120"/>
              </a:rPr>
              <a:t>= the DNA</a:t>
            </a:r>
            <a:endParaRPr lang="en-US" sz="1050" dirty="0"/>
          </a:p>
        </p:txBody>
      </p:sp>
      <p:sp>
        <p:nvSpPr>
          <p:cNvPr id="10" name="Shape 8"/>
          <p:cNvSpPr/>
          <p:nvPr/>
        </p:nvSpPr>
        <p:spPr>
          <a:xfrm>
            <a:off x="4315968" y="1417320"/>
            <a:ext cx="1737360" cy="1207008"/>
          </a:xfrm>
          <a:prstGeom prst="roundRect">
            <a:avLst>
              <a:gd name="adj" fmla="val 7576"/>
            </a:avLst>
          </a:prstGeom>
          <a:solidFill>
            <a:srgbClr val="FFFFFF"/>
          </a:solidFill>
          <a:ln/>
          <a:effectLst>
            <a:outerShdw sx="100000" sy="100000" kx="0" ky="0" algn="bl" rotWithShape="0" blurRad="127000" dist="19050" dir="5400000">
              <a:srgbClr val="9BA9B8">
                <a:alpha val="28000"/>
              </a:srgbClr>
            </a:outerShdw>
          </a:effectLst>
        </p:spPr>
      </p:sp>
      <p:sp>
        <p:nvSpPr>
          <p:cNvPr id="11" name="Text 9"/>
          <p:cNvSpPr/>
          <p:nvPr/>
        </p:nvSpPr>
        <p:spPr>
          <a:xfrm>
            <a:off x="4315968" y="1517904"/>
            <a:ext cx="1737360" cy="402336"/>
          </a:xfrm>
          <a:prstGeom prst="rect">
            <a:avLst/>
          </a:prstGeom>
          <a:noFill/>
          <a:ln/>
        </p:spPr>
        <p:txBody>
          <a:bodyPr wrap="square" lIns="0" tIns="0" rIns="0" bIns="0" rtlCol="0" anchor="ctr"/>
          <a:lstStyle/>
          <a:p>
            <a:pPr algn="ctr" indent="0" marL="0">
              <a:buNone/>
            </a:pPr>
            <a:r>
              <a:rPr lang="en-US" sz="2100" b="1" dirty="0">
                <a:solidFill>
                  <a:srgbClr val="5A6672"/>
                </a:solidFill>
                <a:latin typeface="Cambria" pitchFamily="34" charset="0"/>
                <a:ea typeface="Cambria" pitchFamily="34" charset="-122"/>
                <a:cs typeface="Cambria" pitchFamily="34" charset="-120"/>
              </a:rPr>
              <a:t>2</a:t>
            </a:r>
            <a:endParaRPr lang="en-US" sz="2100" dirty="0"/>
          </a:p>
        </p:txBody>
      </p:sp>
      <p:sp>
        <p:nvSpPr>
          <p:cNvPr id="12" name="Text 10"/>
          <p:cNvSpPr/>
          <p:nvPr/>
        </p:nvSpPr>
        <p:spPr>
          <a:xfrm>
            <a:off x="4407408" y="1938528"/>
            <a:ext cx="1554480" cy="640080"/>
          </a:xfrm>
          <a:prstGeom prst="rect">
            <a:avLst/>
          </a:prstGeom>
          <a:noFill/>
          <a:ln/>
        </p:spPr>
        <p:txBody>
          <a:bodyPr wrap="square" lIns="0" tIns="0" rIns="0" bIns="0" rtlCol="0" anchor="t"/>
          <a:lstStyle/>
          <a:p>
            <a:pPr algn="ctr" indent="0" marL="0">
              <a:lnSpc>
                <a:spcPts val="1300"/>
              </a:lnSpc>
              <a:buNone/>
            </a:pPr>
            <a:r>
              <a:rPr lang="en-US" sz="1050" dirty="0">
                <a:solidFill>
                  <a:srgbClr val="1B2733"/>
                </a:solidFill>
                <a:latin typeface="Calibri" pitchFamily="34" charset="0"/>
                <a:ea typeface="Calibri" pitchFamily="34" charset="-122"/>
                <a:cs typeface="Calibri" pitchFamily="34" charset="-120"/>
              </a:rPr>
              <a:t>to</a:t>
            </a:r>
            <a:endParaRPr lang="en-US" sz="1050" dirty="0"/>
          </a:p>
        </p:txBody>
      </p:sp>
      <p:sp>
        <p:nvSpPr>
          <p:cNvPr id="13" name="Shape 11"/>
          <p:cNvSpPr/>
          <p:nvPr/>
        </p:nvSpPr>
        <p:spPr>
          <a:xfrm>
            <a:off x="6199632" y="1417320"/>
            <a:ext cx="1737360" cy="1207008"/>
          </a:xfrm>
          <a:prstGeom prst="roundRect">
            <a:avLst>
              <a:gd name="adj" fmla="val 7576"/>
            </a:avLst>
          </a:prstGeom>
          <a:solidFill>
            <a:srgbClr val="FFFFFF"/>
          </a:solidFill>
          <a:ln/>
          <a:effectLst>
            <a:outerShdw sx="100000" sy="100000" kx="0" ky="0" algn="bl" rotWithShape="0" blurRad="127000" dist="19050" dir="5400000">
              <a:srgbClr val="9BA9B8">
                <a:alpha val="28000"/>
              </a:srgbClr>
            </a:outerShdw>
          </a:effectLst>
        </p:spPr>
      </p:sp>
      <p:sp>
        <p:nvSpPr>
          <p:cNvPr id="14" name="Text 12"/>
          <p:cNvSpPr/>
          <p:nvPr/>
        </p:nvSpPr>
        <p:spPr>
          <a:xfrm>
            <a:off x="6199632" y="1517904"/>
            <a:ext cx="1737360" cy="402336"/>
          </a:xfrm>
          <a:prstGeom prst="rect">
            <a:avLst/>
          </a:prstGeom>
          <a:noFill/>
          <a:ln/>
        </p:spPr>
        <p:txBody>
          <a:bodyPr wrap="square" lIns="0" tIns="0" rIns="0" bIns="0" rtlCol="0" anchor="ctr"/>
          <a:lstStyle/>
          <a:p>
            <a:pPr algn="ctr" indent="0" marL="0">
              <a:buNone/>
            </a:pPr>
            <a:r>
              <a:rPr lang="en-US" sz="2100" b="1" dirty="0">
                <a:solidFill>
                  <a:srgbClr val="F0A202"/>
                </a:solidFill>
                <a:latin typeface="Cambria" pitchFamily="34" charset="0"/>
                <a:ea typeface="Cambria" pitchFamily="34" charset="-122"/>
                <a:cs typeface="Cambria" pitchFamily="34" charset="-120"/>
              </a:rPr>
              <a:t>P</a:t>
            </a:r>
            <a:endParaRPr lang="en-US" sz="2100" dirty="0"/>
          </a:p>
        </p:txBody>
      </p:sp>
      <p:sp>
        <p:nvSpPr>
          <p:cNvPr id="15" name="Text 13"/>
          <p:cNvSpPr/>
          <p:nvPr/>
        </p:nvSpPr>
        <p:spPr>
          <a:xfrm>
            <a:off x="6291072" y="1938528"/>
            <a:ext cx="1554480" cy="640080"/>
          </a:xfrm>
          <a:prstGeom prst="rect">
            <a:avLst/>
          </a:prstGeom>
          <a:noFill/>
          <a:ln/>
        </p:spPr>
        <p:txBody>
          <a:bodyPr wrap="square" lIns="0" tIns="0" rIns="0" bIns="0" rtlCol="0" anchor="t"/>
          <a:lstStyle/>
          <a:p>
            <a:pPr algn="ctr" indent="0" marL="0">
              <a:lnSpc>
                <a:spcPts val="1300"/>
              </a:lnSpc>
              <a:buNone/>
            </a:pPr>
            <a:r>
              <a:rPr lang="en-US" sz="1050" dirty="0">
                <a:solidFill>
                  <a:srgbClr val="1B2733"/>
                </a:solidFill>
                <a:latin typeface="Calibri" pitchFamily="34" charset="0"/>
                <a:ea typeface="Calibri" pitchFamily="34" charset="-122"/>
                <a:cs typeface="Calibri" pitchFamily="34" charset="-120"/>
              </a:rPr>
              <a:t>Phenotype</a:t>
            </a:r>
            <a:endParaRPr lang="en-US" sz="1050" dirty="0"/>
          </a:p>
          <a:p>
            <a:pPr algn="ctr" indent="0" marL="0">
              <a:lnSpc>
                <a:spcPts val="1300"/>
              </a:lnSpc>
              <a:buNone/>
            </a:pPr>
            <a:r>
              <a:rPr lang="en-US" sz="1050" dirty="0">
                <a:solidFill>
                  <a:srgbClr val="1B2733"/>
                </a:solidFill>
                <a:latin typeface="Calibri" pitchFamily="34" charset="0"/>
                <a:ea typeface="Calibri" pitchFamily="34" charset="-122"/>
                <a:cs typeface="Calibri" pitchFamily="34" charset="-120"/>
              </a:rPr>
              <a:t>= the body feature</a:t>
            </a:r>
            <a:endParaRPr lang="en-US" sz="1050" dirty="0"/>
          </a:p>
        </p:txBody>
      </p:sp>
      <p:sp>
        <p:nvSpPr>
          <p:cNvPr id="16" name="Text 14"/>
          <p:cNvSpPr/>
          <p:nvPr/>
        </p:nvSpPr>
        <p:spPr>
          <a:xfrm>
            <a:off x="566928" y="2761488"/>
            <a:ext cx="7498080" cy="292608"/>
          </a:xfrm>
          <a:prstGeom prst="rect">
            <a:avLst/>
          </a:prstGeom>
          <a:noFill/>
          <a:ln/>
        </p:spPr>
        <p:txBody>
          <a:bodyPr wrap="square" lIns="0" tIns="0" rIns="0" bIns="0" rtlCol="0" anchor="t"/>
          <a:lstStyle/>
          <a:p>
            <a:pPr indent="0" marL="0">
              <a:lnSpc>
                <a:spcPts val="1900"/>
              </a:lnSpc>
              <a:buNone/>
            </a:pPr>
            <a:r>
              <a:rPr lang="en-US" sz="1200" i="1" dirty="0">
                <a:solidFill>
                  <a:srgbClr val="5A6672"/>
                </a:solidFill>
                <a:latin typeface="Calibri" pitchFamily="34" charset="0"/>
                <a:ea typeface="Calibri" pitchFamily="34" charset="-122"/>
                <a:cs typeface="Calibri" pitchFamily="34" charset="-120"/>
              </a:rPr>
              <a:t>So the name simply means: use the family tree to connect DNA to a body feature.</a:t>
            </a:r>
            <a:endParaRPr lang="en-US" sz="1200" dirty="0"/>
          </a:p>
        </p:txBody>
      </p:sp>
      <p:sp>
        <p:nvSpPr>
          <p:cNvPr id="17" name="Text 15"/>
          <p:cNvSpPr/>
          <p:nvPr/>
        </p:nvSpPr>
        <p:spPr>
          <a:xfrm>
            <a:off x="548640" y="3246120"/>
            <a:ext cx="7680960" cy="310896"/>
          </a:xfrm>
          <a:prstGeom prst="rect">
            <a:avLst/>
          </a:prstGeom>
          <a:noFill/>
          <a:ln/>
        </p:spPr>
        <p:txBody>
          <a:bodyPr wrap="square" lIns="0" tIns="0" rIns="0" bIns="0" rtlCol="0" anchor="t"/>
          <a:lstStyle/>
          <a:p>
            <a:pPr indent="0" marL="0">
              <a:buNone/>
            </a:pPr>
            <a:r>
              <a:rPr lang="en-US" sz="1600" b="1" dirty="0">
                <a:solidFill>
                  <a:srgbClr val="10243A"/>
                </a:solidFill>
                <a:latin typeface="Cambria" pitchFamily="34" charset="0"/>
                <a:ea typeface="Cambria" pitchFamily="34" charset="-122"/>
                <a:cs typeface="Cambria" pitchFamily="34" charset="-120"/>
              </a:rPr>
              <a:t>How it works — three steps</a:t>
            </a:r>
            <a:endParaRPr lang="en-US" sz="1600" dirty="0"/>
          </a:p>
        </p:txBody>
      </p:sp>
      <p:sp>
        <p:nvSpPr>
          <p:cNvPr id="18" name="Shape 16"/>
          <p:cNvSpPr/>
          <p:nvPr/>
        </p:nvSpPr>
        <p:spPr>
          <a:xfrm>
            <a:off x="566928" y="3657600"/>
            <a:ext cx="329184" cy="329184"/>
          </a:xfrm>
          <a:prstGeom prst="ellipse">
            <a:avLst/>
          </a:prstGeom>
          <a:solidFill>
            <a:srgbClr val="10243A"/>
          </a:solidFill>
          <a:ln/>
        </p:spPr>
      </p:sp>
      <p:sp>
        <p:nvSpPr>
          <p:cNvPr id="19" name="Text 17"/>
          <p:cNvSpPr/>
          <p:nvPr/>
        </p:nvSpPr>
        <p:spPr>
          <a:xfrm>
            <a:off x="566928" y="365760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0" name="Text 18"/>
          <p:cNvSpPr/>
          <p:nvPr/>
        </p:nvSpPr>
        <p:spPr>
          <a:xfrm>
            <a:off x="1042416" y="3639312"/>
            <a:ext cx="2286000" cy="310896"/>
          </a:xfrm>
          <a:prstGeom prst="rect">
            <a:avLst/>
          </a:prstGeom>
          <a:noFill/>
          <a:ln/>
        </p:spPr>
        <p:txBody>
          <a:bodyPr wrap="square" lIns="0" tIns="0" rIns="0" bIns="0" rtlCol="0" anchor="ctr"/>
          <a:lstStyle/>
          <a:p>
            <a:pPr indent="0" marL="0">
              <a:buNone/>
            </a:pPr>
            <a:r>
              <a:rPr lang="en-US" sz="1300" b="1" dirty="0">
                <a:solidFill>
                  <a:srgbClr val="10243A"/>
                </a:solidFill>
                <a:latin typeface="Calibri" pitchFamily="34" charset="0"/>
                <a:ea typeface="Calibri" pitchFamily="34" charset="-122"/>
                <a:cs typeface="Calibri" pitchFamily="34" charset="-120"/>
              </a:rPr>
              <a:t>Choose a feature</a:t>
            </a:r>
            <a:endParaRPr lang="en-US" sz="1300" dirty="0"/>
          </a:p>
        </p:txBody>
      </p:sp>
      <p:sp>
        <p:nvSpPr>
          <p:cNvPr id="21" name="Text 19"/>
          <p:cNvSpPr/>
          <p:nvPr/>
        </p:nvSpPr>
        <p:spPr>
          <a:xfrm>
            <a:off x="1042416" y="3931920"/>
            <a:ext cx="6858000" cy="594360"/>
          </a:xfrm>
          <a:prstGeom prst="rect">
            <a:avLst/>
          </a:prstGeom>
          <a:noFill/>
          <a:ln/>
        </p:spPr>
        <p:txBody>
          <a:bodyPr wrap="square" lIns="0" tIns="0" rIns="0" bIns="0" rtlCol="0" anchor="t"/>
          <a:lstStyle/>
          <a:p>
            <a:pPr indent="0" marL="0">
              <a:lnSpc>
                <a:spcPts val="1600"/>
              </a:lnSpc>
              <a:buNone/>
            </a:pPr>
            <a:r>
              <a:rPr lang="en-US" sz="1150" dirty="0">
                <a:solidFill>
                  <a:srgbClr val="1B2733"/>
                </a:solidFill>
                <a:latin typeface="Calibri" pitchFamily="34" charset="0"/>
                <a:ea typeface="Calibri" pitchFamily="34" charset="-122"/>
                <a:cs typeface="Calibri" pitchFamily="34" charset="-120"/>
              </a:rPr>
              <a:t>Pick something some animals have and others do not. Here: hunting by echo.</a:t>
            </a:r>
            <a:endParaRPr lang="en-US" sz="1150" dirty="0"/>
          </a:p>
        </p:txBody>
      </p:sp>
      <p:sp>
        <p:nvSpPr>
          <p:cNvPr id="22" name="Shape 20"/>
          <p:cNvSpPr/>
          <p:nvPr/>
        </p:nvSpPr>
        <p:spPr>
          <a:xfrm>
            <a:off x="566928" y="4590288"/>
            <a:ext cx="329184" cy="329184"/>
          </a:xfrm>
          <a:prstGeom prst="ellipse">
            <a:avLst/>
          </a:prstGeom>
          <a:solidFill>
            <a:srgbClr val="10243A"/>
          </a:solidFill>
          <a:ln/>
        </p:spPr>
      </p:sp>
      <p:sp>
        <p:nvSpPr>
          <p:cNvPr id="23" name="Text 21"/>
          <p:cNvSpPr/>
          <p:nvPr/>
        </p:nvSpPr>
        <p:spPr>
          <a:xfrm>
            <a:off x="566928" y="459028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4" name="Text 22"/>
          <p:cNvSpPr/>
          <p:nvPr/>
        </p:nvSpPr>
        <p:spPr>
          <a:xfrm>
            <a:off x="1042416" y="4572000"/>
            <a:ext cx="2286000" cy="310896"/>
          </a:xfrm>
          <a:prstGeom prst="rect">
            <a:avLst/>
          </a:prstGeom>
          <a:noFill/>
          <a:ln/>
        </p:spPr>
        <p:txBody>
          <a:bodyPr wrap="square" lIns="0" tIns="0" rIns="0" bIns="0" rtlCol="0" anchor="ctr"/>
          <a:lstStyle/>
          <a:p>
            <a:pPr indent="0" marL="0">
              <a:buNone/>
            </a:pPr>
            <a:r>
              <a:rPr lang="en-US" sz="1300" b="1" dirty="0">
                <a:solidFill>
                  <a:srgbClr val="10243A"/>
                </a:solidFill>
                <a:latin typeface="Calibri" pitchFamily="34" charset="0"/>
                <a:ea typeface="Calibri" pitchFamily="34" charset="-122"/>
                <a:cs typeface="Calibri" pitchFamily="34" charset="-120"/>
              </a:rPr>
              <a:t>Compare the same gene</a:t>
            </a:r>
            <a:endParaRPr lang="en-US" sz="1300" dirty="0"/>
          </a:p>
        </p:txBody>
      </p:sp>
      <p:sp>
        <p:nvSpPr>
          <p:cNvPr id="25" name="Text 23"/>
          <p:cNvSpPr/>
          <p:nvPr/>
        </p:nvSpPr>
        <p:spPr>
          <a:xfrm>
            <a:off x="1042416" y="4864608"/>
            <a:ext cx="6858000" cy="594360"/>
          </a:xfrm>
          <a:prstGeom prst="rect">
            <a:avLst/>
          </a:prstGeom>
          <a:noFill/>
          <a:ln/>
        </p:spPr>
        <p:txBody>
          <a:bodyPr wrap="square" lIns="0" tIns="0" rIns="0" bIns="0" rtlCol="0" anchor="t"/>
          <a:lstStyle/>
          <a:p>
            <a:pPr indent="0" marL="0">
              <a:lnSpc>
                <a:spcPts val="1600"/>
              </a:lnSpc>
              <a:buNone/>
            </a:pPr>
            <a:r>
              <a:rPr lang="en-US" sz="1150" dirty="0">
                <a:solidFill>
                  <a:srgbClr val="1B2733"/>
                </a:solidFill>
                <a:latin typeface="Calibri" pitchFamily="34" charset="0"/>
                <a:ea typeface="Calibri" pitchFamily="34" charset="-122"/>
                <a:cs typeface="Calibri" pitchFamily="34" charset="-120"/>
              </a:rPr>
              <a:t>Line up that gene from every animal and read it letter by letter.</a:t>
            </a:r>
            <a:endParaRPr lang="en-US" sz="1150" dirty="0"/>
          </a:p>
        </p:txBody>
      </p:sp>
      <p:sp>
        <p:nvSpPr>
          <p:cNvPr id="26" name="Shape 24"/>
          <p:cNvSpPr/>
          <p:nvPr/>
        </p:nvSpPr>
        <p:spPr>
          <a:xfrm>
            <a:off x="566928" y="5522976"/>
            <a:ext cx="329184" cy="329184"/>
          </a:xfrm>
          <a:prstGeom prst="ellipse">
            <a:avLst/>
          </a:prstGeom>
          <a:solidFill>
            <a:srgbClr val="10243A"/>
          </a:solidFill>
          <a:ln/>
        </p:spPr>
      </p:sp>
      <p:sp>
        <p:nvSpPr>
          <p:cNvPr id="27" name="Text 25"/>
          <p:cNvSpPr/>
          <p:nvPr/>
        </p:nvSpPr>
        <p:spPr>
          <a:xfrm>
            <a:off x="566928" y="552297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8" name="Text 26"/>
          <p:cNvSpPr/>
          <p:nvPr/>
        </p:nvSpPr>
        <p:spPr>
          <a:xfrm>
            <a:off x="1042416" y="5504688"/>
            <a:ext cx="2286000" cy="310896"/>
          </a:xfrm>
          <a:prstGeom prst="rect">
            <a:avLst/>
          </a:prstGeom>
          <a:noFill/>
          <a:ln/>
        </p:spPr>
        <p:txBody>
          <a:bodyPr wrap="square" lIns="0" tIns="0" rIns="0" bIns="0" rtlCol="0" anchor="ctr"/>
          <a:lstStyle/>
          <a:p>
            <a:pPr indent="0" marL="0">
              <a:buNone/>
            </a:pPr>
            <a:r>
              <a:rPr lang="en-US" sz="1300" b="1" dirty="0">
                <a:solidFill>
                  <a:srgbClr val="10243A"/>
                </a:solidFill>
                <a:latin typeface="Calibri" pitchFamily="34" charset="0"/>
                <a:ea typeface="Calibri" pitchFamily="34" charset="-122"/>
                <a:cs typeface="Calibri" pitchFamily="34" charset="-120"/>
              </a:rPr>
              <a:t>Find the odd spot</a:t>
            </a:r>
            <a:endParaRPr lang="en-US" sz="1300" dirty="0"/>
          </a:p>
        </p:txBody>
      </p:sp>
      <p:sp>
        <p:nvSpPr>
          <p:cNvPr id="29" name="Text 27"/>
          <p:cNvSpPr/>
          <p:nvPr/>
        </p:nvSpPr>
        <p:spPr>
          <a:xfrm>
            <a:off x="1042416" y="5797296"/>
            <a:ext cx="6858000" cy="594360"/>
          </a:xfrm>
          <a:prstGeom prst="rect">
            <a:avLst/>
          </a:prstGeom>
          <a:noFill/>
          <a:ln/>
        </p:spPr>
        <p:txBody>
          <a:bodyPr wrap="square" lIns="0" tIns="0" rIns="0" bIns="0" rtlCol="0" anchor="t"/>
          <a:lstStyle/>
          <a:p>
            <a:pPr indent="0" marL="0">
              <a:lnSpc>
                <a:spcPts val="1600"/>
              </a:lnSpc>
              <a:buNone/>
            </a:pPr>
            <a:r>
              <a:rPr lang="en-US" sz="1150" dirty="0">
                <a:solidFill>
                  <a:srgbClr val="1B2733"/>
                </a:solidFill>
                <a:latin typeface="Calibri" pitchFamily="34" charset="0"/>
                <a:ea typeface="Calibri" pitchFamily="34" charset="-122"/>
                <a:cs typeface="Calibri" pitchFamily="34" charset="-120"/>
              </a:rPr>
              <a:t>Look for one spot where every animal WITH the feature has the same letter, and no animal without it does.</a:t>
            </a:r>
            <a:endParaRPr lang="en-US" sz="1150" dirty="0"/>
          </a:p>
        </p:txBody>
      </p:sp>
      <p:sp>
        <p:nvSpPr>
          <p:cNvPr id="30" name="Shape 28"/>
          <p:cNvSpPr/>
          <p:nvPr/>
        </p:nvSpPr>
        <p:spPr>
          <a:xfrm>
            <a:off x="8366760" y="1417320"/>
            <a:ext cx="3246120" cy="4754880"/>
          </a:xfrm>
          <a:prstGeom prst="roundRect">
            <a:avLst>
              <a:gd name="adj" fmla="val 2817"/>
            </a:avLst>
          </a:prstGeom>
          <a:solidFill>
            <a:srgbClr val="10243A"/>
          </a:solidFill>
          <a:ln/>
          <a:effectLst>
            <a:outerShdw sx="100000" sy="100000" kx="0" ky="0" algn="bl" rotWithShape="0" blurRad="127000" dist="19050" dir="5400000">
              <a:srgbClr val="9BA9B8">
                <a:alpha val="28000"/>
              </a:srgbClr>
            </a:outerShdw>
          </a:effectLst>
        </p:spPr>
      </p:sp>
      <p:sp>
        <p:nvSpPr>
          <p:cNvPr id="31" name="Text 29"/>
          <p:cNvSpPr/>
          <p:nvPr/>
        </p:nvSpPr>
        <p:spPr>
          <a:xfrm>
            <a:off x="8641080" y="1627632"/>
            <a:ext cx="2743200" cy="310896"/>
          </a:xfrm>
          <a:prstGeom prst="rect">
            <a:avLst/>
          </a:prstGeom>
          <a:noFill/>
          <a:ln/>
        </p:spPr>
        <p:txBody>
          <a:bodyPr wrap="square" lIns="0" tIns="0" rIns="0" bIns="0" rtlCol="0" anchor="t"/>
          <a:lstStyle/>
          <a:p>
            <a:pPr indent="0" marL="0">
              <a:buNone/>
            </a:pPr>
            <a:r>
              <a:rPr lang="en-US" sz="1500" b="1" dirty="0">
                <a:solidFill>
                  <a:srgbClr val="F0A202"/>
                </a:solidFill>
                <a:latin typeface="Cambria" pitchFamily="34" charset="0"/>
                <a:ea typeface="Cambria" pitchFamily="34" charset="-122"/>
                <a:cs typeface="Cambria" pitchFamily="34" charset="-120"/>
              </a:rPr>
              <a:t>Why the tree matters</a:t>
            </a:r>
            <a:endParaRPr lang="en-US" sz="1500" dirty="0"/>
          </a:p>
        </p:txBody>
      </p:sp>
      <p:sp>
        <p:nvSpPr>
          <p:cNvPr id="32" name="Text 30"/>
          <p:cNvSpPr/>
          <p:nvPr/>
        </p:nvSpPr>
        <p:spPr>
          <a:xfrm>
            <a:off x="8641080" y="2011680"/>
            <a:ext cx="2743200" cy="640080"/>
          </a:xfrm>
          <a:prstGeom prst="rect">
            <a:avLst/>
          </a:prstGeom>
          <a:noFill/>
          <a:ln/>
        </p:spPr>
        <p:txBody>
          <a:bodyPr wrap="square" lIns="0" tIns="0" rIns="0" bIns="0" rtlCol="0" anchor="t"/>
          <a:lstStyle/>
          <a:p>
            <a:pPr indent="0" marL="0">
              <a:lnSpc>
                <a:spcPts val="1600"/>
              </a:lnSpc>
              <a:buNone/>
            </a:pPr>
            <a:r>
              <a:rPr lang="en-US" sz="1150" dirty="0">
                <a:solidFill>
                  <a:srgbClr val="C6D4E4"/>
                </a:solidFill>
                <a:latin typeface="Calibri" pitchFamily="34" charset="0"/>
                <a:ea typeface="Calibri" pitchFamily="34" charset="-122"/>
                <a:cs typeface="Calibri" pitchFamily="34" charset="-120"/>
              </a:rPr>
              <a:t>Two animals can share the same DNA letter for two very different reasons.</a:t>
            </a:r>
            <a:endParaRPr lang="en-US" sz="1150" dirty="0"/>
          </a:p>
        </p:txBody>
      </p:sp>
      <p:sp>
        <p:nvSpPr>
          <p:cNvPr id="33" name="Shape 31"/>
          <p:cNvSpPr/>
          <p:nvPr/>
        </p:nvSpPr>
        <p:spPr>
          <a:xfrm>
            <a:off x="8641080" y="2788920"/>
            <a:ext cx="2743200" cy="1371600"/>
          </a:xfrm>
          <a:prstGeom prst="roundRect">
            <a:avLst>
              <a:gd name="adj" fmla="val 5333"/>
            </a:avLst>
          </a:prstGeom>
          <a:solidFill>
            <a:srgbClr val="1B3A5C"/>
          </a:solidFill>
          <a:ln/>
        </p:spPr>
      </p:sp>
      <p:sp>
        <p:nvSpPr>
          <p:cNvPr id="34" name="Text 32"/>
          <p:cNvSpPr/>
          <p:nvPr/>
        </p:nvSpPr>
        <p:spPr>
          <a:xfrm>
            <a:off x="8823960" y="2935224"/>
            <a:ext cx="2377440" cy="292608"/>
          </a:xfrm>
          <a:prstGeom prst="rect">
            <a:avLst/>
          </a:prstGeom>
          <a:noFill/>
          <a:ln/>
        </p:spPr>
        <p:txBody>
          <a:bodyPr wrap="square" lIns="0" tIns="0" rIns="0" bIns="0" rtlCol="0" anchor="ctr"/>
          <a:lstStyle/>
          <a:p>
            <a:pPr indent="0" marL="0">
              <a:buNone/>
            </a:pPr>
            <a:r>
              <a:rPr lang="en-US" sz="1250" b="1" dirty="0">
                <a:solidFill>
                  <a:srgbClr val="C6D4E4"/>
                </a:solidFill>
                <a:latin typeface="Calibri" pitchFamily="34" charset="0"/>
                <a:ea typeface="Calibri" pitchFamily="34" charset="-122"/>
                <a:cs typeface="Calibri" pitchFamily="34" charset="-120"/>
              </a:rPr>
              <a:t>Close relatives</a:t>
            </a:r>
            <a:endParaRPr lang="en-US" sz="1250" dirty="0"/>
          </a:p>
        </p:txBody>
      </p:sp>
      <p:sp>
        <p:nvSpPr>
          <p:cNvPr id="35" name="Text 33"/>
          <p:cNvSpPr/>
          <p:nvPr/>
        </p:nvSpPr>
        <p:spPr>
          <a:xfrm>
            <a:off x="8823960" y="3264408"/>
            <a:ext cx="2377440" cy="822960"/>
          </a:xfrm>
          <a:prstGeom prst="rect">
            <a:avLst/>
          </a:prstGeom>
          <a:noFill/>
          <a:ln/>
        </p:spPr>
        <p:txBody>
          <a:bodyPr wrap="square" lIns="0" tIns="0" rIns="0" bIns="0" rtlCol="0" anchor="t"/>
          <a:lstStyle/>
          <a:p>
            <a:pPr indent="0" marL="0">
              <a:lnSpc>
                <a:spcPts val="1400"/>
              </a:lnSpc>
              <a:buNone/>
            </a:pPr>
            <a:r>
              <a:rPr lang="en-US" sz="1050" dirty="0">
                <a:solidFill>
                  <a:srgbClr val="8FA6BE"/>
                </a:solidFill>
                <a:latin typeface="Calibri" pitchFamily="34" charset="0"/>
                <a:ea typeface="Calibri" pitchFamily="34" charset="-122"/>
                <a:cs typeface="Calibri" pitchFamily="34" charset="-120"/>
              </a:rPr>
              <a:t>They just inherited it from the same parent. This proves nothing.</a:t>
            </a:r>
            <a:endParaRPr lang="en-US" sz="1050" dirty="0"/>
          </a:p>
        </p:txBody>
      </p:sp>
      <p:sp>
        <p:nvSpPr>
          <p:cNvPr id="36" name="Shape 34"/>
          <p:cNvSpPr/>
          <p:nvPr/>
        </p:nvSpPr>
        <p:spPr>
          <a:xfrm>
            <a:off x="8641080" y="4389120"/>
            <a:ext cx="2743200" cy="1371600"/>
          </a:xfrm>
          <a:prstGeom prst="roundRect">
            <a:avLst>
              <a:gd name="adj" fmla="val 5333"/>
            </a:avLst>
          </a:prstGeom>
          <a:solidFill>
            <a:srgbClr val="1B3A5C"/>
          </a:solidFill>
          <a:ln/>
        </p:spPr>
      </p:sp>
      <p:sp>
        <p:nvSpPr>
          <p:cNvPr id="37" name="Text 35"/>
          <p:cNvSpPr/>
          <p:nvPr/>
        </p:nvSpPr>
        <p:spPr>
          <a:xfrm>
            <a:off x="8823960" y="4535424"/>
            <a:ext cx="2377440" cy="292608"/>
          </a:xfrm>
          <a:prstGeom prst="rect">
            <a:avLst/>
          </a:prstGeom>
          <a:noFill/>
          <a:ln/>
        </p:spPr>
        <p:txBody>
          <a:bodyPr wrap="square" lIns="0" tIns="0" rIns="0" bIns="0" rtlCol="0" anchor="ctr"/>
          <a:lstStyle/>
          <a:p>
            <a:pPr indent="0" marL="0">
              <a:buNone/>
            </a:pPr>
            <a:r>
              <a:rPr lang="en-US" sz="1250" b="1" dirty="0">
                <a:solidFill>
                  <a:srgbClr val="9BE7B4"/>
                </a:solidFill>
                <a:latin typeface="Calibri" pitchFamily="34" charset="0"/>
                <a:ea typeface="Calibri" pitchFamily="34" charset="-122"/>
                <a:cs typeface="Calibri" pitchFamily="34" charset="-120"/>
              </a:rPr>
              <a:t>Distant relatives</a:t>
            </a:r>
            <a:endParaRPr lang="en-US" sz="1250" dirty="0"/>
          </a:p>
        </p:txBody>
      </p:sp>
      <p:sp>
        <p:nvSpPr>
          <p:cNvPr id="38" name="Text 36"/>
          <p:cNvSpPr/>
          <p:nvPr/>
        </p:nvSpPr>
        <p:spPr>
          <a:xfrm>
            <a:off x="8823960" y="4864608"/>
            <a:ext cx="2377440" cy="822960"/>
          </a:xfrm>
          <a:prstGeom prst="rect">
            <a:avLst/>
          </a:prstGeom>
          <a:noFill/>
          <a:ln/>
        </p:spPr>
        <p:txBody>
          <a:bodyPr wrap="square" lIns="0" tIns="0" rIns="0" bIns="0" rtlCol="0" anchor="t"/>
          <a:lstStyle/>
          <a:p>
            <a:pPr indent="0" marL="0">
              <a:lnSpc>
                <a:spcPts val="1400"/>
              </a:lnSpc>
              <a:buNone/>
            </a:pPr>
            <a:r>
              <a:rPr lang="en-US" sz="1050" dirty="0">
                <a:solidFill>
                  <a:srgbClr val="9BE7B4"/>
                </a:solidFill>
                <a:latin typeface="Calibri" pitchFamily="34" charset="0"/>
                <a:ea typeface="Calibri" pitchFamily="34" charset="-122"/>
                <a:cs typeface="Calibri" pitchFamily="34" charset="-120"/>
              </a:rPr>
              <a:t>They must have changed it separately, on their own. This is real evidence.</a:t>
            </a:r>
            <a:endParaRPr lang="en-US" sz="1050" dirty="0"/>
          </a:p>
        </p:txBody>
      </p:sp>
      <p:sp>
        <p:nvSpPr>
          <p:cNvPr id="39" name="Text 37"/>
          <p:cNvSpPr/>
          <p:nvPr/>
        </p:nvSpPr>
        <p:spPr>
          <a:xfrm>
            <a:off x="8641080" y="5806440"/>
            <a:ext cx="2743200" cy="292608"/>
          </a:xfrm>
          <a:prstGeom prst="rect">
            <a:avLst/>
          </a:prstGeom>
          <a:noFill/>
          <a:ln/>
        </p:spPr>
        <p:txBody>
          <a:bodyPr wrap="square" lIns="0" tIns="0" rIns="0" bIns="0" rtlCol="0" anchor="t"/>
          <a:lstStyle/>
          <a:p>
            <a:pPr indent="0" marL="0">
              <a:lnSpc>
                <a:spcPts val="1200"/>
              </a:lnSpc>
              <a:buNone/>
            </a:pPr>
            <a:r>
              <a:rPr lang="en-US" sz="1000" i="1" dirty="0">
                <a:solidFill>
                  <a:srgbClr val="F0A202"/>
                </a:solidFill>
                <a:latin typeface="Calibri" pitchFamily="34" charset="0"/>
                <a:ea typeface="Calibri" pitchFamily="34" charset="-122"/>
                <a:cs typeface="Calibri" pitchFamily="34" charset="-120"/>
              </a:rPr>
              <a:t>Changing the same letter twice, separately, is called convergent evolution.</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548640" y="310896"/>
            <a:ext cx="11064240" cy="566928"/>
          </a:xfrm>
          <a:prstGeom prst="rect">
            <a:avLst/>
          </a:prstGeom>
          <a:noFill/>
          <a:ln/>
        </p:spPr>
        <p:txBody>
          <a:bodyPr wrap="square" lIns="0" tIns="0" rIns="0" bIns="0" rtlCol="0" anchor="ctr"/>
          <a:lstStyle/>
          <a:p>
            <a:pPr indent="0" marL="0">
              <a:buNone/>
            </a:pPr>
            <a:r>
              <a:rPr lang="en-US" sz="3200" b="1" dirty="0">
                <a:solidFill>
                  <a:srgbClr val="10243A"/>
                </a:solidFill>
                <a:latin typeface="Cambria" pitchFamily="34" charset="0"/>
                <a:ea typeface="Cambria" pitchFamily="34" charset="-122"/>
                <a:cs typeface="Cambria" pitchFamily="34" charset="-120"/>
              </a:rPr>
              <a:t>Topic 2: What is a pan-genome graph?</a:t>
            </a:r>
            <a:endParaRPr lang="en-US" sz="3200" dirty="0"/>
          </a:p>
        </p:txBody>
      </p:sp>
      <p:sp>
        <p:nvSpPr>
          <p:cNvPr id="3" name="Text 1"/>
          <p:cNvSpPr/>
          <p:nvPr/>
        </p:nvSpPr>
        <p:spPr>
          <a:xfrm>
            <a:off x="566928" y="896112"/>
            <a:ext cx="11064240" cy="310896"/>
          </a:xfrm>
          <a:prstGeom prst="rect">
            <a:avLst/>
          </a:prstGeom>
          <a:noFill/>
          <a:ln/>
        </p:spPr>
        <p:txBody>
          <a:bodyPr wrap="square" lIns="0" tIns="0" rIns="0" bIns="0" rtlCol="0" anchor="ctr"/>
          <a:lstStyle/>
          <a:p>
            <a:pPr indent="0" marL="0">
              <a:buNone/>
            </a:pPr>
            <a:r>
              <a:rPr lang="en-US" sz="1400" dirty="0">
                <a:solidFill>
                  <a:srgbClr val="5A6672"/>
                </a:solidFill>
                <a:latin typeface="Calibri" pitchFamily="34" charset="0"/>
                <a:ea typeface="Calibri" pitchFamily="34" charset="-122"/>
                <a:cs typeface="Calibri" pitchFamily="34" charset="-120"/>
              </a:rPr>
              <a:t>A way to store many genomes together, instead of treating one animal's DNA as the only correct version.</a:t>
            </a:r>
            <a:endParaRPr lang="en-US" sz="1400" dirty="0"/>
          </a:p>
        </p:txBody>
      </p:sp>
      <p:sp>
        <p:nvSpPr>
          <p:cNvPr id="4" name="Shape 2"/>
          <p:cNvSpPr/>
          <p:nvPr/>
        </p:nvSpPr>
        <p:spPr>
          <a:xfrm>
            <a:off x="548640" y="1417320"/>
            <a:ext cx="5440680" cy="1783080"/>
          </a:xfrm>
          <a:prstGeom prst="roundRect">
            <a:avLst>
              <a:gd name="adj" fmla="val 5128"/>
            </a:avLst>
          </a:prstGeom>
          <a:solidFill>
            <a:srgbClr val="FFFFFF"/>
          </a:solidFill>
          <a:ln/>
          <a:effectLst>
            <a:outerShdw sx="100000" sy="100000" kx="0" ky="0" algn="bl" rotWithShape="0" blurRad="127000" dist="19050" dir="5400000">
              <a:srgbClr val="9BA9B8">
                <a:alpha val="28000"/>
              </a:srgbClr>
            </a:outerShdw>
          </a:effectLst>
        </p:spPr>
      </p:sp>
      <p:sp>
        <p:nvSpPr>
          <p:cNvPr id="5" name="Shape 3"/>
          <p:cNvSpPr/>
          <p:nvPr/>
        </p:nvSpPr>
        <p:spPr>
          <a:xfrm>
            <a:off x="841248" y="1627632"/>
            <a:ext cx="329184" cy="329184"/>
          </a:xfrm>
          <a:prstGeom prst="ellipse">
            <a:avLst/>
          </a:prstGeom>
          <a:solidFill>
            <a:srgbClr val="C1272D"/>
          </a:solidFill>
          <a:ln/>
        </p:spPr>
      </p:sp>
      <p:sp>
        <p:nvSpPr>
          <p:cNvPr id="6" name="Text 4"/>
          <p:cNvSpPr/>
          <p:nvPr/>
        </p:nvSpPr>
        <p:spPr>
          <a:xfrm>
            <a:off x="841248" y="1627632"/>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7" name="Text 5"/>
          <p:cNvSpPr/>
          <p:nvPr/>
        </p:nvSpPr>
        <p:spPr>
          <a:xfrm>
            <a:off x="1316736" y="1645920"/>
            <a:ext cx="4114800" cy="310896"/>
          </a:xfrm>
          <a:prstGeom prst="rect">
            <a:avLst/>
          </a:prstGeom>
          <a:noFill/>
          <a:ln/>
        </p:spPr>
        <p:txBody>
          <a:bodyPr wrap="square" lIns="0" tIns="0" rIns="0" bIns="0" rtlCol="0" anchor="t"/>
          <a:lstStyle/>
          <a:p>
            <a:pPr indent="0" marL="0">
              <a:buNone/>
            </a:pPr>
            <a:r>
              <a:rPr lang="en-US" sz="1500" b="1" dirty="0">
                <a:solidFill>
                  <a:srgbClr val="10243A"/>
                </a:solidFill>
                <a:latin typeface="Cambria" pitchFamily="34" charset="0"/>
                <a:ea typeface="Cambria" pitchFamily="34" charset="-122"/>
                <a:cs typeface="Cambria" pitchFamily="34" charset="-120"/>
              </a:rPr>
              <a:t>The problem</a:t>
            </a:r>
            <a:endParaRPr lang="en-US" sz="1500" dirty="0"/>
          </a:p>
        </p:txBody>
      </p:sp>
      <p:sp>
        <p:nvSpPr>
          <p:cNvPr id="8" name="Text 6"/>
          <p:cNvSpPr/>
          <p:nvPr/>
        </p:nvSpPr>
        <p:spPr>
          <a:xfrm>
            <a:off x="859536" y="2048256"/>
            <a:ext cx="4846320" cy="1005840"/>
          </a:xfrm>
          <a:prstGeom prst="rect">
            <a:avLst/>
          </a:prstGeom>
          <a:noFill/>
          <a:ln/>
        </p:spPr>
        <p:txBody>
          <a:bodyPr wrap="square" lIns="0" tIns="0" rIns="0" bIns="0" rtlCol="0" anchor="t"/>
          <a:lstStyle/>
          <a:p>
            <a:pPr indent="0" marL="0">
              <a:lnSpc>
                <a:spcPts val="1700"/>
              </a:lnSpc>
              <a:buNone/>
            </a:pPr>
            <a:r>
              <a:rPr lang="en-US" sz="1180" dirty="0">
                <a:solidFill>
                  <a:srgbClr val="1B2733"/>
                </a:solidFill>
                <a:latin typeface="Calibri" pitchFamily="34" charset="0"/>
                <a:ea typeface="Calibri" pitchFamily="34" charset="-122"/>
                <a:cs typeface="Calibri" pitchFamily="34" charset="-120"/>
              </a:rPr>
              <a:t>Normally we pick one genome and call it the reference. Everyone else is compared to it. Anything missing from that one genome becomes invisible. This is called reference bias.</a:t>
            </a:r>
            <a:endParaRPr lang="en-US" sz="1180" dirty="0"/>
          </a:p>
        </p:txBody>
      </p:sp>
      <p:sp>
        <p:nvSpPr>
          <p:cNvPr id="9" name="Shape 7"/>
          <p:cNvSpPr/>
          <p:nvPr/>
        </p:nvSpPr>
        <p:spPr>
          <a:xfrm>
            <a:off x="6172200" y="1417320"/>
            <a:ext cx="5440680" cy="1783080"/>
          </a:xfrm>
          <a:prstGeom prst="roundRect">
            <a:avLst>
              <a:gd name="adj" fmla="val 5128"/>
            </a:avLst>
          </a:prstGeom>
          <a:solidFill>
            <a:srgbClr val="FFFFFF"/>
          </a:solidFill>
          <a:ln/>
          <a:effectLst>
            <a:outerShdw sx="100000" sy="100000" kx="0" ky="0" algn="bl" rotWithShape="0" blurRad="127000" dist="19050" dir="5400000">
              <a:srgbClr val="9BA9B8">
                <a:alpha val="28000"/>
              </a:srgbClr>
            </a:outerShdw>
          </a:effectLst>
        </p:spPr>
      </p:sp>
      <p:sp>
        <p:nvSpPr>
          <p:cNvPr id="10" name="Shape 8"/>
          <p:cNvSpPr/>
          <p:nvPr/>
        </p:nvSpPr>
        <p:spPr>
          <a:xfrm>
            <a:off x="6464808" y="1627632"/>
            <a:ext cx="329184" cy="329184"/>
          </a:xfrm>
          <a:prstGeom prst="ellipse">
            <a:avLst/>
          </a:prstGeom>
          <a:solidFill>
            <a:srgbClr val="2E8B57"/>
          </a:solidFill>
          <a:ln/>
        </p:spPr>
      </p:sp>
      <p:sp>
        <p:nvSpPr>
          <p:cNvPr id="11" name="Text 9"/>
          <p:cNvSpPr/>
          <p:nvPr/>
        </p:nvSpPr>
        <p:spPr>
          <a:xfrm>
            <a:off x="6464808" y="1627632"/>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2" name="Text 10"/>
          <p:cNvSpPr/>
          <p:nvPr/>
        </p:nvSpPr>
        <p:spPr>
          <a:xfrm>
            <a:off x="6940296" y="1645920"/>
            <a:ext cx="4114800" cy="310896"/>
          </a:xfrm>
          <a:prstGeom prst="rect">
            <a:avLst/>
          </a:prstGeom>
          <a:noFill/>
          <a:ln/>
        </p:spPr>
        <p:txBody>
          <a:bodyPr wrap="square" lIns="0" tIns="0" rIns="0" bIns="0" rtlCol="0" anchor="t"/>
          <a:lstStyle/>
          <a:p>
            <a:pPr indent="0" marL="0">
              <a:buNone/>
            </a:pPr>
            <a:r>
              <a:rPr lang="en-US" sz="1500" b="1" dirty="0">
                <a:solidFill>
                  <a:srgbClr val="10243A"/>
                </a:solidFill>
                <a:latin typeface="Cambria" pitchFamily="34" charset="0"/>
                <a:ea typeface="Cambria" pitchFamily="34" charset="-122"/>
                <a:cs typeface="Cambria" pitchFamily="34" charset="-120"/>
              </a:rPr>
              <a:t>The fix</a:t>
            </a:r>
            <a:endParaRPr lang="en-US" sz="1500" dirty="0"/>
          </a:p>
        </p:txBody>
      </p:sp>
      <p:sp>
        <p:nvSpPr>
          <p:cNvPr id="13" name="Text 11"/>
          <p:cNvSpPr/>
          <p:nvPr/>
        </p:nvSpPr>
        <p:spPr>
          <a:xfrm>
            <a:off x="6483096" y="2048256"/>
            <a:ext cx="4846320" cy="1005840"/>
          </a:xfrm>
          <a:prstGeom prst="rect">
            <a:avLst/>
          </a:prstGeom>
          <a:noFill/>
          <a:ln/>
        </p:spPr>
        <p:txBody>
          <a:bodyPr wrap="square" lIns="0" tIns="0" rIns="0" bIns="0" rtlCol="0" anchor="t"/>
          <a:lstStyle/>
          <a:p>
            <a:pPr indent="0" marL="0">
              <a:lnSpc>
                <a:spcPts val="1700"/>
              </a:lnSpc>
              <a:buNone/>
            </a:pPr>
            <a:r>
              <a:rPr lang="en-US" sz="1180" dirty="0">
                <a:solidFill>
                  <a:srgbClr val="1B2733"/>
                </a:solidFill>
                <a:latin typeface="Calibri" pitchFamily="34" charset="0"/>
                <a:ea typeface="Calibri" pitchFamily="34" charset="-122"/>
                <a:cs typeface="Calibri" pitchFamily="34" charset="-120"/>
              </a:rPr>
              <a:t>A graph keeps every version at the same time. Where all genomes agree, they share one box. Where they differ, the path splits into a bubble and then joins back.</a:t>
            </a:r>
            <a:endParaRPr lang="en-US" sz="1180" dirty="0"/>
          </a:p>
        </p:txBody>
      </p:sp>
      <p:sp>
        <p:nvSpPr>
          <p:cNvPr id="14" name="Shape 12"/>
          <p:cNvSpPr/>
          <p:nvPr/>
        </p:nvSpPr>
        <p:spPr>
          <a:xfrm>
            <a:off x="548640" y="3364992"/>
            <a:ext cx="11064240" cy="2148840"/>
          </a:xfrm>
          <a:prstGeom prst="roundRect">
            <a:avLst>
              <a:gd name="adj" fmla="val 4255"/>
            </a:avLst>
          </a:prstGeom>
          <a:solidFill>
            <a:srgbClr val="FFFFFF"/>
          </a:solidFill>
          <a:ln/>
          <a:effectLst>
            <a:outerShdw sx="100000" sy="100000" kx="0" ky="0" algn="bl" rotWithShape="0" blurRad="127000" dist="19050" dir="5400000">
              <a:srgbClr val="9BA9B8">
                <a:alpha val="28000"/>
              </a:srgbClr>
            </a:outerShdw>
          </a:effectLst>
        </p:spPr>
      </p:sp>
      <p:sp>
        <p:nvSpPr>
          <p:cNvPr id="15" name="Text 13"/>
          <p:cNvSpPr/>
          <p:nvPr/>
        </p:nvSpPr>
        <p:spPr>
          <a:xfrm>
            <a:off x="868680" y="3529584"/>
            <a:ext cx="4572000" cy="310896"/>
          </a:xfrm>
          <a:prstGeom prst="rect">
            <a:avLst/>
          </a:prstGeom>
          <a:noFill/>
          <a:ln/>
        </p:spPr>
        <p:txBody>
          <a:bodyPr wrap="square" lIns="0" tIns="0" rIns="0" bIns="0" rtlCol="0" anchor="t"/>
          <a:lstStyle/>
          <a:p>
            <a:pPr indent="0" marL="0">
              <a:buNone/>
            </a:pPr>
            <a:r>
              <a:rPr lang="en-US" sz="1500" b="1" dirty="0">
                <a:solidFill>
                  <a:srgbClr val="10243A"/>
                </a:solidFill>
                <a:latin typeface="Cambria" pitchFamily="34" charset="0"/>
                <a:ea typeface="Cambria" pitchFamily="34" charset="-122"/>
                <a:cs typeface="Cambria" pitchFamily="34" charset="-120"/>
              </a:rPr>
              <a:t>The idea in one picture</a:t>
            </a:r>
            <a:endParaRPr lang="en-US" sz="1500" dirty="0"/>
          </a:p>
        </p:txBody>
      </p:sp>
      <p:sp>
        <p:nvSpPr>
          <p:cNvPr id="16" name="Text 14"/>
          <p:cNvSpPr/>
          <p:nvPr/>
        </p:nvSpPr>
        <p:spPr>
          <a:xfrm>
            <a:off x="868680" y="3986784"/>
            <a:ext cx="2286000" cy="365760"/>
          </a:xfrm>
          <a:prstGeom prst="rect">
            <a:avLst/>
          </a:prstGeom>
          <a:noFill/>
          <a:ln/>
        </p:spPr>
        <p:txBody>
          <a:bodyPr wrap="square" lIns="0" tIns="0" rIns="0" bIns="0" rtlCol="0" anchor="ctr"/>
          <a:lstStyle/>
          <a:p>
            <a:pPr indent="0" marL="0">
              <a:buNone/>
            </a:pPr>
            <a:r>
              <a:rPr lang="en-US" sz="1150" b="1" dirty="0">
                <a:solidFill>
                  <a:srgbClr val="5A6672"/>
                </a:solidFill>
                <a:latin typeface="Calibri" pitchFamily="34" charset="0"/>
                <a:ea typeface="Calibri" pitchFamily="34" charset="-122"/>
                <a:cs typeface="Calibri" pitchFamily="34" charset="-120"/>
              </a:rPr>
              <a:t>One linear reference</a:t>
            </a:r>
            <a:endParaRPr lang="en-US" sz="1150" dirty="0"/>
          </a:p>
        </p:txBody>
      </p:sp>
      <p:sp>
        <p:nvSpPr>
          <p:cNvPr id="17" name="Shape 15"/>
          <p:cNvSpPr/>
          <p:nvPr/>
        </p:nvSpPr>
        <p:spPr>
          <a:xfrm>
            <a:off x="3520440" y="3968496"/>
            <a:ext cx="1005840" cy="402336"/>
          </a:xfrm>
          <a:prstGeom prst="roundRect">
            <a:avLst>
              <a:gd name="adj" fmla="val 13636"/>
            </a:avLst>
          </a:prstGeom>
          <a:solidFill>
            <a:srgbClr val="2E7DD1"/>
          </a:solidFill>
          <a:ln w="12700">
            <a:solidFill>
              <a:srgbClr val="FFFFFF"/>
            </a:solidFill>
            <a:prstDash val="solid"/>
          </a:ln>
        </p:spPr>
      </p:sp>
      <p:sp>
        <p:nvSpPr>
          <p:cNvPr id="18" name="Text 16"/>
          <p:cNvSpPr/>
          <p:nvPr/>
        </p:nvSpPr>
        <p:spPr>
          <a:xfrm>
            <a:off x="3520440" y="3968496"/>
            <a:ext cx="1005840"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TCA</a:t>
            </a:r>
            <a:endParaRPr lang="en-US" sz="1100" dirty="0"/>
          </a:p>
        </p:txBody>
      </p:sp>
      <p:sp>
        <p:nvSpPr>
          <p:cNvPr id="19" name="Shape 17"/>
          <p:cNvSpPr/>
          <p:nvPr/>
        </p:nvSpPr>
        <p:spPr>
          <a:xfrm>
            <a:off x="4754880" y="3968496"/>
            <a:ext cx="1005840" cy="402336"/>
          </a:xfrm>
          <a:prstGeom prst="roundRect">
            <a:avLst>
              <a:gd name="adj" fmla="val 13636"/>
            </a:avLst>
          </a:prstGeom>
          <a:solidFill>
            <a:srgbClr val="2E7DD1"/>
          </a:solidFill>
          <a:ln w="12700">
            <a:solidFill>
              <a:srgbClr val="FFFFFF"/>
            </a:solidFill>
            <a:prstDash val="solid"/>
          </a:ln>
        </p:spPr>
      </p:sp>
      <p:sp>
        <p:nvSpPr>
          <p:cNvPr id="20" name="Text 18"/>
          <p:cNvSpPr/>
          <p:nvPr/>
        </p:nvSpPr>
        <p:spPr>
          <a:xfrm>
            <a:off x="4754880" y="3968496"/>
            <a:ext cx="1005840"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a:t>
            </a:r>
            <a:endParaRPr lang="en-US" sz="1100" dirty="0"/>
          </a:p>
        </p:txBody>
      </p:sp>
      <p:sp>
        <p:nvSpPr>
          <p:cNvPr id="21" name="Shape 19"/>
          <p:cNvSpPr/>
          <p:nvPr/>
        </p:nvSpPr>
        <p:spPr>
          <a:xfrm>
            <a:off x="4526280" y="4169664"/>
            <a:ext cx="228600" cy="0"/>
          </a:xfrm>
          <a:prstGeom prst="line">
            <a:avLst/>
          </a:prstGeom>
          <a:noFill/>
          <a:ln w="20320">
            <a:solidFill>
              <a:srgbClr val="9AA6B2"/>
            </a:solidFill>
            <a:prstDash val="solid"/>
          </a:ln>
        </p:spPr>
      </p:sp>
      <p:sp>
        <p:nvSpPr>
          <p:cNvPr id="22" name="Shape 20"/>
          <p:cNvSpPr/>
          <p:nvPr/>
        </p:nvSpPr>
        <p:spPr>
          <a:xfrm>
            <a:off x="5989320" y="3968496"/>
            <a:ext cx="1005840" cy="402336"/>
          </a:xfrm>
          <a:prstGeom prst="roundRect">
            <a:avLst>
              <a:gd name="adj" fmla="val 13636"/>
            </a:avLst>
          </a:prstGeom>
          <a:solidFill>
            <a:srgbClr val="F0A202"/>
          </a:solidFill>
          <a:ln w="12700">
            <a:solidFill>
              <a:srgbClr val="FFFFFF"/>
            </a:solidFill>
            <a:prstDash val="solid"/>
          </a:ln>
        </p:spPr>
      </p:sp>
      <p:sp>
        <p:nvSpPr>
          <p:cNvPr id="23" name="Text 21"/>
          <p:cNvSpPr/>
          <p:nvPr/>
        </p:nvSpPr>
        <p:spPr>
          <a:xfrm>
            <a:off x="5989320" y="3968496"/>
            <a:ext cx="1005840"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CA</a:t>
            </a:r>
            <a:endParaRPr lang="en-US" sz="1100" dirty="0"/>
          </a:p>
        </p:txBody>
      </p:sp>
      <p:sp>
        <p:nvSpPr>
          <p:cNvPr id="24" name="Shape 22"/>
          <p:cNvSpPr/>
          <p:nvPr/>
        </p:nvSpPr>
        <p:spPr>
          <a:xfrm>
            <a:off x="5760720" y="4169664"/>
            <a:ext cx="228600" cy="0"/>
          </a:xfrm>
          <a:prstGeom prst="line">
            <a:avLst/>
          </a:prstGeom>
          <a:noFill/>
          <a:ln w="20320">
            <a:solidFill>
              <a:srgbClr val="9AA6B2"/>
            </a:solidFill>
            <a:prstDash val="solid"/>
          </a:ln>
        </p:spPr>
      </p:sp>
      <p:sp>
        <p:nvSpPr>
          <p:cNvPr id="25" name="Shape 23"/>
          <p:cNvSpPr/>
          <p:nvPr/>
        </p:nvSpPr>
        <p:spPr>
          <a:xfrm>
            <a:off x="7223760" y="3968496"/>
            <a:ext cx="1005840" cy="402336"/>
          </a:xfrm>
          <a:prstGeom prst="roundRect">
            <a:avLst>
              <a:gd name="adj" fmla="val 13636"/>
            </a:avLst>
          </a:prstGeom>
          <a:solidFill>
            <a:srgbClr val="2E7DD1"/>
          </a:solidFill>
          <a:ln w="12700">
            <a:solidFill>
              <a:srgbClr val="FFFFFF"/>
            </a:solidFill>
            <a:prstDash val="solid"/>
          </a:ln>
        </p:spPr>
      </p:sp>
      <p:sp>
        <p:nvSpPr>
          <p:cNvPr id="26" name="Text 24"/>
          <p:cNvSpPr/>
          <p:nvPr/>
        </p:nvSpPr>
        <p:spPr>
          <a:xfrm>
            <a:off x="7223760" y="3968496"/>
            <a:ext cx="1005840"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TG</a:t>
            </a:r>
            <a:endParaRPr lang="en-US" sz="1100" dirty="0"/>
          </a:p>
        </p:txBody>
      </p:sp>
      <p:sp>
        <p:nvSpPr>
          <p:cNvPr id="27" name="Shape 25"/>
          <p:cNvSpPr/>
          <p:nvPr/>
        </p:nvSpPr>
        <p:spPr>
          <a:xfrm>
            <a:off x="6995160" y="4169664"/>
            <a:ext cx="228600" cy="0"/>
          </a:xfrm>
          <a:prstGeom prst="line">
            <a:avLst/>
          </a:prstGeom>
          <a:noFill/>
          <a:ln w="20320">
            <a:solidFill>
              <a:srgbClr val="9AA6B2"/>
            </a:solidFill>
            <a:prstDash val="solid"/>
          </a:ln>
        </p:spPr>
      </p:sp>
      <p:sp>
        <p:nvSpPr>
          <p:cNvPr id="28" name="Text 26"/>
          <p:cNvSpPr/>
          <p:nvPr/>
        </p:nvSpPr>
        <p:spPr>
          <a:xfrm>
            <a:off x="8796528" y="3840480"/>
            <a:ext cx="2651760" cy="658368"/>
          </a:xfrm>
          <a:prstGeom prst="rect">
            <a:avLst/>
          </a:prstGeom>
          <a:noFill/>
          <a:ln/>
        </p:spPr>
        <p:txBody>
          <a:bodyPr wrap="square" lIns="0" tIns="0" rIns="0" bIns="0" rtlCol="0" anchor="ctr"/>
          <a:lstStyle/>
          <a:p>
            <a:pPr indent="0" marL="0">
              <a:lnSpc>
                <a:spcPts val="1300"/>
              </a:lnSpc>
              <a:buNone/>
            </a:pPr>
            <a:r>
              <a:rPr lang="en-US" sz="1050" i="1" dirty="0">
                <a:solidFill>
                  <a:srgbClr val="C1272D"/>
                </a:solidFill>
                <a:latin typeface="Calibri" pitchFamily="34" charset="0"/>
                <a:ea typeface="Calibri" pitchFamily="34" charset="-122"/>
                <a:cs typeface="Calibri" pitchFamily="34" charset="-120"/>
              </a:rPr>
              <a:t>the longer version simply cannot be shown</a:t>
            </a:r>
            <a:endParaRPr lang="en-US" sz="1050" dirty="0"/>
          </a:p>
        </p:txBody>
      </p:sp>
      <p:sp>
        <p:nvSpPr>
          <p:cNvPr id="29" name="Text 27"/>
          <p:cNvSpPr/>
          <p:nvPr/>
        </p:nvSpPr>
        <p:spPr>
          <a:xfrm>
            <a:off x="868680" y="4800600"/>
            <a:ext cx="2286000" cy="365760"/>
          </a:xfrm>
          <a:prstGeom prst="rect">
            <a:avLst/>
          </a:prstGeom>
          <a:noFill/>
          <a:ln/>
        </p:spPr>
        <p:txBody>
          <a:bodyPr wrap="square" lIns="0" tIns="0" rIns="0" bIns="0" rtlCol="0" anchor="ctr"/>
          <a:lstStyle/>
          <a:p>
            <a:pPr indent="0" marL="0">
              <a:buNone/>
            </a:pPr>
            <a:r>
              <a:rPr lang="en-US" sz="1150" b="1" dirty="0">
                <a:solidFill>
                  <a:srgbClr val="10243A"/>
                </a:solidFill>
                <a:latin typeface="Calibri" pitchFamily="34" charset="0"/>
                <a:ea typeface="Calibri" pitchFamily="34" charset="-122"/>
                <a:cs typeface="Calibri" pitchFamily="34" charset="-120"/>
              </a:rPr>
              <a:t>Pan-genome graph</a:t>
            </a:r>
            <a:endParaRPr lang="en-US" sz="1150" dirty="0"/>
          </a:p>
        </p:txBody>
      </p:sp>
      <p:sp>
        <p:nvSpPr>
          <p:cNvPr id="30" name="Shape 28"/>
          <p:cNvSpPr/>
          <p:nvPr/>
        </p:nvSpPr>
        <p:spPr>
          <a:xfrm>
            <a:off x="3520440" y="4782312"/>
            <a:ext cx="1005840" cy="402336"/>
          </a:xfrm>
          <a:prstGeom prst="roundRect">
            <a:avLst>
              <a:gd name="adj" fmla="val 13636"/>
            </a:avLst>
          </a:prstGeom>
          <a:solidFill>
            <a:srgbClr val="2E7DD1"/>
          </a:solidFill>
          <a:ln w="12700">
            <a:solidFill>
              <a:srgbClr val="FFFFFF"/>
            </a:solidFill>
            <a:prstDash val="solid"/>
          </a:ln>
        </p:spPr>
      </p:sp>
      <p:sp>
        <p:nvSpPr>
          <p:cNvPr id="31" name="Text 29"/>
          <p:cNvSpPr/>
          <p:nvPr/>
        </p:nvSpPr>
        <p:spPr>
          <a:xfrm>
            <a:off x="3520440" y="4782312"/>
            <a:ext cx="1005840"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TCA</a:t>
            </a:r>
            <a:endParaRPr lang="en-US" sz="1100" dirty="0"/>
          </a:p>
        </p:txBody>
      </p:sp>
      <p:sp>
        <p:nvSpPr>
          <p:cNvPr id="32" name="Shape 30"/>
          <p:cNvSpPr/>
          <p:nvPr/>
        </p:nvSpPr>
        <p:spPr>
          <a:xfrm>
            <a:off x="4754880" y="4782312"/>
            <a:ext cx="1005840" cy="402336"/>
          </a:xfrm>
          <a:prstGeom prst="roundRect">
            <a:avLst>
              <a:gd name="adj" fmla="val 13636"/>
            </a:avLst>
          </a:prstGeom>
          <a:solidFill>
            <a:srgbClr val="2E7DD1"/>
          </a:solidFill>
          <a:ln w="12700">
            <a:solidFill>
              <a:srgbClr val="FFFFFF"/>
            </a:solidFill>
            <a:prstDash val="solid"/>
          </a:ln>
        </p:spPr>
      </p:sp>
      <p:sp>
        <p:nvSpPr>
          <p:cNvPr id="33" name="Text 31"/>
          <p:cNvSpPr/>
          <p:nvPr/>
        </p:nvSpPr>
        <p:spPr>
          <a:xfrm>
            <a:off x="4754880" y="4782312"/>
            <a:ext cx="1005840"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a:t>
            </a:r>
            <a:endParaRPr lang="en-US" sz="1100" dirty="0"/>
          </a:p>
        </p:txBody>
      </p:sp>
      <p:sp>
        <p:nvSpPr>
          <p:cNvPr id="34" name="Shape 32"/>
          <p:cNvSpPr/>
          <p:nvPr/>
        </p:nvSpPr>
        <p:spPr>
          <a:xfrm>
            <a:off x="5989320" y="4498848"/>
            <a:ext cx="1005840" cy="402336"/>
          </a:xfrm>
          <a:prstGeom prst="roundRect">
            <a:avLst>
              <a:gd name="adj" fmla="val 13636"/>
            </a:avLst>
          </a:prstGeom>
          <a:solidFill>
            <a:srgbClr val="F0A202"/>
          </a:solidFill>
          <a:ln w="12700">
            <a:solidFill>
              <a:srgbClr val="FFFFFF"/>
            </a:solidFill>
            <a:prstDash val="solid"/>
          </a:ln>
        </p:spPr>
      </p:sp>
      <p:sp>
        <p:nvSpPr>
          <p:cNvPr id="35" name="Text 33"/>
          <p:cNvSpPr/>
          <p:nvPr/>
        </p:nvSpPr>
        <p:spPr>
          <a:xfrm>
            <a:off x="5989320" y="4498848"/>
            <a:ext cx="1005840"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CA</a:t>
            </a:r>
            <a:endParaRPr lang="en-US" sz="1100" dirty="0"/>
          </a:p>
        </p:txBody>
      </p:sp>
      <p:sp>
        <p:nvSpPr>
          <p:cNvPr id="36" name="Shape 34"/>
          <p:cNvSpPr/>
          <p:nvPr/>
        </p:nvSpPr>
        <p:spPr>
          <a:xfrm>
            <a:off x="5989320" y="5074920"/>
            <a:ext cx="1234440" cy="402336"/>
          </a:xfrm>
          <a:prstGeom prst="roundRect">
            <a:avLst>
              <a:gd name="adj" fmla="val 13636"/>
            </a:avLst>
          </a:prstGeom>
          <a:solidFill>
            <a:srgbClr val="C1272D"/>
          </a:solidFill>
          <a:ln w="12700">
            <a:solidFill>
              <a:srgbClr val="FFFFFF"/>
            </a:solidFill>
            <a:prstDash val="solid"/>
          </a:ln>
        </p:spPr>
      </p:sp>
      <p:sp>
        <p:nvSpPr>
          <p:cNvPr id="37" name="Text 35"/>
          <p:cNvSpPr/>
          <p:nvPr/>
        </p:nvSpPr>
        <p:spPr>
          <a:xfrm>
            <a:off x="5989320" y="5074920"/>
            <a:ext cx="1234440"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CATTGA</a:t>
            </a:r>
            <a:endParaRPr lang="en-US" sz="1100" dirty="0"/>
          </a:p>
        </p:txBody>
      </p:sp>
      <p:sp>
        <p:nvSpPr>
          <p:cNvPr id="38" name="Shape 36"/>
          <p:cNvSpPr/>
          <p:nvPr/>
        </p:nvSpPr>
        <p:spPr>
          <a:xfrm>
            <a:off x="7589520" y="4782312"/>
            <a:ext cx="1005840" cy="402336"/>
          </a:xfrm>
          <a:prstGeom prst="roundRect">
            <a:avLst>
              <a:gd name="adj" fmla="val 13636"/>
            </a:avLst>
          </a:prstGeom>
          <a:solidFill>
            <a:srgbClr val="2E7DD1"/>
          </a:solidFill>
          <a:ln w="12700">
            <a:solidFill>
              <a:srgbClr val="FFFFFF"/>
            </a:solidFill>
            <a:prstDash val="solid"/>
          </a:ln>
        </p:spPr>
      </p:sp>
      <p:sp>
        <p:nvSpPr>
          <p:cNvPr id="39" name="Text 37"/>
          <p:cNvSpPr/>
          <p:nvPr/>
        </p:nvSpPr>
        <p:spPr>
          <a:xfrm>
            <a:off x="7589520" y="4782312"/>
            <a:ext cx="1005840"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TG</a:t>
            </a:r>
            <a:endParaRPr lang="en-US" sz="1100" dirty="0"/>
          </a:p>
        </p:txBody>
      </p:sp>
      <p:sp>
        <p:nvSpPr>
          <p:cNvPr id="40" name="Shape 38"/>
          <p:cNvSpPr/>
          <p:nvPr/>
        </p:nvSpPr>
        <p:spPr>
          <a:xfrm>
            <a:off x="4526280" y="4983480"/>
            <a:ext cx="228600" cy="0"/>
          </a:xfrm>
          <a:prstGeom prst="line">
            <a:avLst/>
          </a:prstGeom>
          <a:noFill/>
          <a:ln w="20320">
            <a:solidFill>
              <a:srgbClr val="9AA6B2"/>
            </a:solidFill>
            <a:prstDash val="solid"/>
          </a:ln>
        </p:spPr>
      </p:sp>
      <p:sp>
        <p:nvSpPr>
          <p:cNvPr id="41" name="Shape 39"/>
          <p:cNvSpPr/>
          <p:nvPr/>
        </p:nvSpPr>
        <p:spPr>
          <a:xfrm flipV="1">
            <a:off x="5760720" y="4700016"/>
            <a:ext cx="228600" cy="283464"/>
          </a:xfrm>
          <a:prstGeom prst="line">
            <a:avLst/>
          </a:prstGeom>
          <a:noFill/>
          <a:ln w="20320">
            <a:solidFill>
              <a:srgbClr val="9AA6B2"/>
            </a:solidFill>
            <a:prstDash val="solid"/>
          </a:ln>
        </p:spPr>
      </p:sp>
      <p:sp>
        <p:nvSpPr>
          <p:cNvPr id="42" name="Shape 40"/>
          <p:cNvSpPr/>
          <p:nvPr/>
        </p:nvSpPr>
        <p:spPr>
          <a:xfrm>
            <a:off x="5760720" y="4983480"/>
            <a:ext cx="228600" cy="292608"/>
          </a:xfrm>
          <a:prstGeom prst="line">
            <a:avLst/>
          </a:prstGeom>
          <a:noFill/>
          <a:ln w="20320">
            <a:solidFill>
              <a:srgbClr val="9AA6B2"/>
            </a:solidFill>
            <a:prstDash val="solid"/>
          </a:ln>
        </p:spPr>
      </p:sp>
      <p:sp>
        <p:nvSpPr>
          <p:cNvPr id="43" name="Shape 41"/>
          <p:cNvSpPr/>
          <p:nvPr/>
        </p:nvSpPr>
        <p:spPr>
          <a:xfrm>
            <a:off x="6995160" y="4700016"/>
            <a:ext cx="594360" cy="283464"/>
          </a:xfrm>
          <a:prstGeom prst="line">
            <a:avLst/>
          </a:prstGeom>
          <a:noFill/>
          <a:ln w="20320">
            <a:solidFill>
              <a:srgbClr val="9AA6B2"/>
            </a:solidFill>
            <a:prstDash val="solid"/>
          </a:ln>
        </p:spPr>
      </p:sp>
      <p:sp>
        <p:nvSpPr>
          <p:cNvPr id="44" name="Shape 42"/>
          <p:cNvSpPr/>
          <p:nvPr/>
        </p:nvSpPr>
        <p:spPr>
          <a:xfrm flipV="1">
            <a:off x="7223760" y="4983480"/>
            <a:ext cx="365760" cy="292608"/>
          </a:xfrm>
          <a:prstGeom prst="line">
            <a:avLst/>
          </a:prstGeom>
          <a:noFill/>
          <a:ln w="20320">
            <a:solidFill>
              <a:srgbClr val="9AA6B2"/>
            </a:solidFill>
            <a:prstDash val="solid"/>
          </a:ln>
        </p:spPr>
      </p:sp>
      <p:sp>
        <p:nvSpPr>
          <p:cNvPr id="45" name="Text 43"/>
          <p:cNvSpPr/>
          <p:nvPr/>
        </p:nvSpPr>
        <p:spPr>
          <a:xfrm>
            <a:off x="8796528" y="4663440"/>
            <a:ext cx="2651760" cy="658368"/>
          </a:xfrm>
          <a:prstGeom prst="rect">
            <a:avLst/>
          </a:prstGeom>
          <a:noFill/>
          <a:ln/>
        </p:spPr>
        <p:txBody>
          <a:bodyPr wrap="square" lIns="0" tIns="0" rIns="0" bIns="0" rtlCol="0" anchor="ctr"/>
          <a:lstStyle/>
          <a:p>
            <a:pPr indent="0" marL="0">
              <a:lnSpc>
                <a:spcPts val="1300"/>
              </a:lnSpc>
              <a:buNone/>
            </a:pPr>
            <a:r>
              <a:rPr lang="en-US" sz="1050" i="1" dirty="0">
                <a:solidFill>
                  <a:srgbClr val="2E8B57"/>
                </a:solidFill>
                <a:latin typeface="Calibri" pitchFamily="34" charset="0"/>
                <a:ea typeface="Calibri" pitchFamily="34" charset="-122"/>
                <a:cs typeface="Calibri" pitchFamily="34" charset="-120"/>
              </a:rPr>
              <a:t>both versions are kept — the extra letters are visible</a:t>
            </a:r>
            <a:endParaRPr lang="en-US" sz="1050" dirty="0"/>
          </a:p>
        </p:txBody>
      </p:sp>
      <p:sp>
        <p:nvSpPr>
          <p:cNvPr id="46" name="Text 44"/>
          <p:cNvSpPr/>
          <p:nvPr/>
        </p:nvSpPr>
        <p:spPr>
          <a:xfrm>
            <a:off x="658368" y="5715000"/>
            <a:ext cx="10881360" cy="548640"/>
          </a:xfrm>
          <a:prstGeom prst="rect">
            <a:avLst/>
          </a:prstGeom>
          <a:noFill/>
          <a:ln/>
        </p:spPr>
        <p:txBody>
          <a:bodyPr wrap="square" lIns="0" tIns="0" rIns="0" bIns="0" rtlCol="0" anchor="t"/>
          <a:lstStyle/>
          <a:p>
            <a:pPr indent="0" marL="0">
              <a:lnSpc>
                <a:spcPts val="1600"/>
              </a:lnSpc>
              <a:buNone/>
            </a:pPr>
            <a:r>
              <a:rPr lang="en-US" sz="1150" dirty="0">
                <a:solidFill>
                  <a:srgbClr val="5A6672"/>
                </a:solidFill>
                <a:latin typeface="Calibri" pitchFamily="34" charset="0"/>
                <a:ea typeface="Calibri" pitchFamily="34" charset="-122"/>
                <a:cs typeface="Calibri" pitchFamily="34" charset="-120"/>
              </a:rPr>
              <a:t>Why it is useful:  big insertions and deletions become easy to see  ·  no single genome is treated as the “correct” one  ·  important in medicine, where a patient's DNA often does not match the standard reference.</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548640" y="310896"/>
            <a:ext cx="11064240" cy="566928"/>
          </a:xfrm>
          <a:prstGeom prst="rect">
            <a:avLst/>
          </a:prstGeom>
          <a:noFill/>
          <a:ln/>
        </p:spPr>
        <p:txBody>
          <a:bodyPr wrap="square" lIns="0" tIns="0" rIns="0" bIns="0" rtlCol="0" anchor="ctr"/>
          <a:lstStyle/>
          <a:p>
            <a:pPr indent="0" marL="0">
              <a:buNone/>
            </a:pPr>
            <a:r>
              <a:rPr lang="en-US" sz="3200" b="1" dirty="0">
                <a:solidFill>
                  <a:srgbClr val="10243A"/>
                </a:solidFill>
                <a:latin typeface="Cambria" pitchFamily="34" charset="0"/>
                <a:ea typeface="Cambria" pitchFamily="34" charset="-122"/>
                <a:cs typeface="Cambria" pitchFamily="34" charset="-120"/>
              </a:rPr>
              <a:t>What our project is, and why we did it</a:t>
            </a:r>
            <a:endParaRPr lang="en-US" sz="3200" dirty="0"/>
          </a:p>
        </p:txBody>
      </p:sp>
      <p:sp>
        <p:nvSpPr>
          <p:cNvPr id="3" name="Text 1"/>
          <p:cNvSpPr/>
          <p:nvPr/>
        </p:nvSpPr>
        <p:spPr>
          <a:xfrm>
            <a:off x="566928" y="896112"/>
            <a:ext cx="11064240" cy="310896"/>
          </a:xfrm>
          <a:prstGeom prst="rect">
            <a:avLst/>
          </a:prstGeom>
          <a:noFill/>
          <a:ln/>
        </p:spPr>
        <p:txBody>
          <a:bodyPr wrap="square" lIns="0" tIns="0" rIns="0" bIns="0" rtlCol="0" anchor="ctr"/>
          <a:lstStyle/>
          <a:p>
            <a:pPr indent="0" marL="0">
              <a:buNone/>
            </a:pPr>
            <a:r>
              <a:rPr lang="en-US" sz="1400" dirty="0">
                <a:solidFill>
                  <a:srgbClr val="5A6672"/>
                </a:solidFill>
                <a:latin typeface="Calibri" pitchFamily="34" charset="0"/>
                <a:ea typeface="Calibri" pitchFamily="34" charset="-122"/>
                <a:cs typeface="Calibri" pitchFamily="34" charset="-120"/>
              </a:rPr>
              <a:t>We took both ideas above and tested them on one real gene, using real DNA from 10 animals.</a:t>
            </a:r>
            <a:endParaRPr lang="en-US" sz="1400" dirty="0"/>
          </a:p>
        </p:txBody>
      </p:sp>
      <p:sp>
        <p:nvSpPr>
          <p:cNvPr id="4" name="Shape 2"/>
          <p:cNvSpPr/>
          <p:nvPr/>
        </p:nvSpPr>
        <p:spPr>
          <a:xfrm>
            <a:off x="548640" y="1389888"/>
            <a:ext cx="5440680" cy="1051560"/>
          </a:xfrm>
          <a:prstGeom prst="roundRect">
            <a:avLst>
              <a:gd name="adj" fmla="val 8696"/>
            </a:avLst>
          </a:prstGeom>
          <a:solidFill>
            <a:srgbClr val="10243A"/>
          </a:solidFill>
          <a:ln/>
          <a:effectLst>
            <a:outerShdw sx="100000" sy="100000" kx="0" ky="0" algn="bl" rotWithShape="0" blurRad="127000" dist="19050" dir="5400000">
              <a:srgbClr val="9BA9B8">
                <a:alpha val="28000"/>
              </a:srgbClr>
            </a:outerShdw>
          </a:effectLst>
        </p:spPr>
      </p:sp>
      <p:sp>
        <p:nvSpPr>
          <p:cNvPr id="5" name="Text 3"/>
          <p:cNvSpPr/>
          <p:nvPr/>
        </p:nvSpPr>
        <p:spPr>
          <a:xfrm>
            <a:off x="841248" y="1554480"/>
            <a:ext cx="1828800" cy="310896"/>
          </a:xfrm>
          <a:prstGeom prst="rect">
            <a:avLst/>
          </a:prstGeom>
          <a:noFill/>
          <a:ln/>
        </p:spPr>
        <p:txBody>
          <a:bodyPr wrap="square" lIns="0" tIns="0" rIns="0" bIns="0" rtlCol="0" anchor="t"/>
          <a:lstStyle/>
          <a:p>
            <a:pPr indent="0" marL="0">
              <a:buNone/>
            </a:pPr>
            <a:r>
              <a:rPr lang="en-US" sz="1400" b="1" dirty="0">
                <a:solidFill>
                  <a:srgbClr val="F0A202"/>
                </a:solidFill>
                <a:latin typeface="Cambria" pitchFamily="34" charset="0"/>
                <a:ea typeface="Cambria" pitchFamily="34" charset="-122"/>
                <a:cs typeface="Cambria" pitchFamily="34" charset="-120"/>
              </a:rPr>
              <a:t>Our aim</a:t>
            </a:r>
            <a:endParaRPr lang="en-US" sz="1400" dirty="0"/>
          </a:p>
        </p:txBody>
      </p:sp>
      <p:sp>
        <p:nvSpPr>
          <p:cNvPr id="6" name="Text 4"/>
          <p:cNvSpPr/>
          <p:nvPr/>
        </p:nvSpPr>
        <p:spPr>
          <a:xfrm>
            <a:off x="841248" y="1865376"/>
            <a:ext cx="4846320" cy="548640"/>
          </a:xfrm>
          <a:prstGeom prst="rect">
            <a:avLst/>
          </a:prstGeom>
          <a:noFill/>
          <a:ln/>
        </p:spPr>
        <p:txBody>
          <a:bodyPr wrap="square" lIns="0" tIns="0" rIns="0" bIns="0" rtlCol="0" anchor="t"/>
          <a:lstStyle/>
          <a:p>
            <a:pPr indent="0" marL="0">
              <a:lnSpc>
                <a:spcPts val="1500"/>
              </a:lnSpc>
              <a:buNone/>
            </a:pPr>
            <a:r>
              <a:rPr lang="en-US" sz="1150" dirty="0">
                <a:solidFill>
                  <a:srgbClr val="C6D4E4"/>
                </a:solidFill>
                <a:latin typeface="Calibri" pitchFamily="34" charset="0"/>
                <a:ea typeface="Calibri" pitchFamily="34" charset="-122"/>
                <a:cs typeface="Calibri" pitchFamily="34" charset="-120"/>
              </a:rPr>
              <a:t>Find the DNA changes linked to hunting by echo — and check whether the method really works.</a:t>
            </a:r>
            <a:endParaRPr lang="en-US" sz="1150" dirty="0"/>
          </a:p>
        </p:txBody>
      </p:sp>
      <p:sp>
        <p:nvSpPr>
          <p:cNvPr id="7" name="Shape 5"/>
          <p:cNvSpPr/>
          <p:nvPr/>
        </p:nvSpPr>
        <p:spPr>
          <a:xfrm>
            <a:off x="548640" y="2633472"/>
            <a:ext cx="5440680" cy="1097280"/>
          </a:xfrm>
          <a:prstGeom prst="roundRect">
            <a:avLst>
              <a:gd name="adj" fmla="val 8333"/>
            </a:avLst>
          </a:prstGeom>
          <a:solidFill>
            <a:srgbClr val="FFFFFF"/>
          </a:solidFill>
          <a:ln/>
          <a:effectLst>
            <a:outerShdw sx="100000" sy="100000" kx="0" ky="0" algn="bl" rotWithShape="0" blurRad="127000" dist="19050" dir="5400000">
              <a:srgbClr val="9BA9B8">
                <a:alpha val="28000"/>
              </a:srgbClr>
            </a:outerShdw>
          </a:effectLst>
        </p:spPr>
      </p:sp>
      <p:sp>
        <p:nvSpPr>
          <p:cNvPr id="8" name="Text 6"/>
          <p:cNvSpPr/>
          <p:nvPr/>
        </p:nvSpPr>
        <p:spPr>
          <a:xfrm>
            <a:off x="841248" y="2761488"/>
            <a:ext cx="4114800" cy="310896"/>
          </a:xfrm>
          <a:prstGeom prst="rect">
            <a:avLst/>
          </a:prstGeom>
          <a:noFill/>
          <a:ln/>
        </p:spPr>
        <p:txBody>
          <a:bodyPr wrap="square" lIns="0" tIns="0" rIns="0" bIns="0" rtlCol="0" anchor="t"/>
          <a:lstStyle/>
          <a:p>
            <a:pPr indent="0" marL="0">
              <a:buNone/>
            </a:pPr>
            <a:r>
              <a:rPr lang="en-US" sz="1350" b="1" dirty="0">
                <a:solidFill>
                  <a:srgbClr val="2E7DD1"/>
                </a:solidFill>
                <a:latin typeface="Cambria" pitchFamily="34" charset="0"/>
                <a:ea typeface="Cambria" pitchFamily="34" charset="-122"/>
                <a:cs typeface="Cambria" pitchFamily="34" charset="-120"/>
              </a:rPr>
              <a:t>Why this gene?</a:t>
            </a:r>
            <a:endParaRPr lang="en-US" sz="1350" dirty="0"/>
          </a:p>
        </p:txBody>
      </p:sp>
      <p:sp>
        <p:nvSpPr>
          <p:cNvPr id="9" name="Text 7"/>
          <p:cNvSpPr/>
          <p:nvPr/>
        </p:nvSpPr>
        <p:spPr>
          <a:xfrm>
            <a:off x="841248" y="3072384"/>
            <a:ext cx="4846320" cy="621792"/>
          </a:xfrm>
          <a:prstGeom prst="rect">
            <a:avLst/>
          </a:prstGeom>
          <a:noFill/>
          <a:ln/>
        </p:spPr>
        <p:txBody>
          <a:bodyPr wrap="square" lIns="0" tIns="0" rIns="0" bIns="0" rtlCol="0" anchor="t"/>
          <a:lstStyle/>
          <a:p>
            <a:pPr indent="0" marL="0">
              <a:lnSpc>
                <a:spcPts val="1450"/>
              </a:lnSpc>
              <a:buNone/>
            </a:pPr>
            <a:r>
              <a:rPr lang="en-US" sz="1100" dirty="0">
                <a:solidFill>
                  <a:srgbClr val="1B2733"/>
                </a:solidFill>
                <a:latin typeface="Calibri" pitchFamily="34" charset="0"/>
                <a:ea typeface="Calibri" pitchFamily="34" charset="-122"/>
                <a:cs typeface="Calibri" pitchFamily="34" charset="-120"/>
              </a:rPr>
              <a:t>Prestin is the protein that makes hearing sharp. It sits in the inner ear. Animals that hunt by echo need very good high-pitch hearing.</a:t>
            </a:r>
            <a:endParaRPr lang="en-US" sz="1100" dirty="0"/>
          </a:p>
        </p:txBody>
      </p:sp>
      <p:sp>
        <p:nvSpPr>
          <p:cNvPr id="10" name="Shape 8"/>
          <p:cNvSpPr/>
          <p:nvPr/>
        </p:nvSpPr>
        <p:spPr>
          <a:xfrm>
            <a:off x="548640" y="3867912"/>
            <a:ext cx="5440680" cy="1097280"/>
          </a:xfrm>
          <a:prstGeom prst="roundRect">
            <a:avLst>
              <a:gd name="adj" fmla="val 8333"/>
            </a:avLst>
          </a:prstGeom>
          <a:solidFill>
            <a:srgbClr val="FFFFFF"/>
          </a:solidFill>
          <a:ln/>
          <a:effectLst>
            <a:outerShdw sx="100000" sy="100000" kx="0" ky="0" algn="bl" rotWithShape="0" blurRad="127000" dist="19050" dir="5400000">
              <a:srgbClr val="9BA9B8">
                <a:alpha val="28000"/>
              </a:srgbClr>
            </a:outerShdw>
          </a:effectLst>
        </p:spPr>
      </p:sp>
      <p:sp>
        <p:nvSpPr>
          <p:cNvPr id="11" name="Text 9"/>
          <p:cNvSpPr/>
          <p:nvPr/>
        </p:nvSpPr>
        <p:spPr>
          <a:xfrm>
            <a:off x="841248" y="3995928"/>
            <a:ext cx="4114800" cy="310896"/>
          </a:xfrm>
          <a:prstGeom prst="rect">
            <a:avLst/>
          </a:prstGeom>
          <a:noFill/>
          <a:ln/>
        </p:spPr>
        <p:txBody>
          <a:bodyPr wrap="square" lIns="0" tIns="0" rIns="0" bIns="0" rtlCol="0" anchor="t"/>
          <a:lstStyle/>
          <a:p>
            <a:pPr indent="0" marL="0">
              <a:buNone/>
            </a:pPr>
            <a:r>
              <a:rPr lang="en-US" sz="1350" b="1" dirty="0">
                <a:solidFill>
                  <a:srgbClr val="C1272D"/>
                </a:solidFill>
                <a:latin typeface="Cambria" pitchFamily="34" charset="0"/>
                <a:ea typeface="Cambria" pitchFamily="34" charset="-122"/>
                <a:cs typeface="Cambria" pitchFamily="34" charset="-120"/>
              </a:rPr>
              <a:t>Why this feature?</a:t>
            </a:r>
            <a:endParaRPr lang="en-US" sz="1350" dirty="0"/>
          </a:p>
        </p:txBody>
      </p:sp>
      <p:sp>
        <p:nvSpPr>
          <p:cNvPr id="12" name="Text 10"/>
          <p:cNvSpPr/>
          <p:nvPr/>
        </p:nvSpPr>
        <p:spPr>
          <a:xfrm>
            <a:off x="841248" y="4306824"/>
            <a:ext cx="4846320" cy="621792"/>
          </a:xfrm>
          <a:prstGeom prst="rect">
            <a:avLst/>
          </a:prstGeom>
          <a:noFill/>
          <a:ln/>
        </p:spPr>
        <p:txBody>
          <a:bodyPr wrap="square" lIns="0" tIns="0" rIns="0" bIns="0" rtlCol="0" anchor="t"/>
          <a:lstStyle/>
          <a:p>
            <a:pPr indent="0" marL="0">
              <a:lnSpc>
                <a:spcPts val="1450"/>
              </a:lnSpc>
              <a:buNone/>
            </a:pPr>
            <a:r>
              <a:rPr lang="en-US" sz="1100" dirty="0">
                <a:solidFill>
                  <a:srgbClr val="1B2733"/>
                </a:solidFill>
                <a:latin typeface="Calibri" pitchFamily="34" charset="0"/>
                <a:ea typeface="Calibri" pitchFamily="34" charset="-122"/>
                <a:cs typeface="Calibri" pitchFamily="34" charset="-120"/>
              </a:rPr>
              <a:t>Bats and dolphins both hunt by echo, but they are not close relatives. Their shared ancestor could not do it. So they developed it twice, separately.</a:t>
            </a:r>
            <a:endParaRPr lang="en-US" sz="1100" dirty="0"/>
          </a:p>
        </p:txBody>
      </p:sp>
      <p:sp>
        <p:nvSpPr>
          <p:cNvPr id="13" name="Shape 11"/>
          <p:cNvSpPr/>
          <p:nvPr/>
        </p:nvSpPr>
        <p:spPr>
          <a:xfrm>
            <a:off x="548640" y="5102352"/>
            <a:ext cx="5440680" cy="1097280"/>
          </a:xfrm>
          <a:prstGeom prst="roundRect">
            <a:avLst>
              <a:gd name="adj" fmla="val 8333"/>
            </a:avLst>
          </a:prstGeom>
          <a:solidFill>
            <a:srgbClr val="FFFFFF"/>
          </a:solidFill>
          <a:ln/>
          <a:effectLst>
            <a:outerShdw sx="100000" sy="100000" kx="0" ky="0" algn="bl" rotWithShape="0" blurRad="127000" dist="19050" dir="5400000">
              <a:srgbClr val="9BA9B8">
                <a:alpha val="28000"/>
              </a:srgbClr>
            </a:outerShdw>
          </a:effectLst>
        </p:spPr>
      </p:sp>
      <p:sp>
        <p:nvSpPr>
          <p:cNvPr id="14" name="Text 12"/>
          <p:cNvSpPr/>
          <p:nvPr/>
        </p:nvSpPr>
        <p:spPr>
          <a:xfrm>
            <a:off x="841248" y="5230368"/>
            <a:ext cx="4114800" cy="310896"/>
          </a:xfrm>
          <a:prstGeom prst="rect">
            <a:avLst/>
          </a:prstGeom>
          <a:noFill/>
          <a:ln/>
        </p:spPr>
        <p:txBody>
          <a:bodyPr wrap="square" lIns="0" tIns="0" rIns="0" bIns="0" rtlCol="0" anchor="t"/>
          <a:lstStyle/>
          <a:p>
            <a:pPr indent="0" marL="0">
              <a:buNone/>
            </a:pPr>
            <a:r>
              <a:rPr lang="en-US" sz="1350" b="1" dirty="0">
                <a:solidFill>
                  <a:srgbClr val="F0A202"/>
                </a:solidFill>
                <a:latin typeface="Cambria" pitchFamily="34" charset="0"/>
                <a:ea typeface="Cambria" pitchFamily="34" charset="-122"/>
                <a:cs typeface="Cambria" pitchFamily="34" charset="-120"/>
              </a:rPr>
              <a:t>Why these controls?</a:t>
            </a:r>
            <a:endParaRPr lang="en-US" sz="1350" dirty="0"/>
          </a:p>
        </p:txBody>
      </p:sp>
      <p:sp>
        <p:nvSpPr>
          <p:cNvPr id="15" name="Text 13"/>
          <p:cNvSpPr/>
          <p:nvPr/>
        </p:nvSpPr>
        <p:spPr>
          <a:xfrm>
            <a:off x="841248" y="5541264"/>
            <a:ext cx="4846320" cy="621792"/>
          </a:xfrm>
          <a:prstGeom prst="rect">
            <a:avLst/>
          </a:prstGeom>
          <a:noFill/>
          <a:ln/>
        </p:spPr>
        <p:txBody>
          <a:bodyPr wrap="square" lIns="0" tIns="0" rIns="0" bIns="0" rtlCol="0" anchor="t"/>
          <a:lstStyle/>
          <a:p>
            <a:pPr indent="0" marL="0">
              <a:lnSpc>
                <a:spcPts val="1450"/>
              </a:lnSpc>
              <a:buNone/>
            </a:pPr>
            <a:r>
              <a:rPr lang="en-US" sz="1100" dirty="0">
                <a:solidFill>
                  <a:srgbClr val="1B2733"/>
                </a:solidFill>
                <a:latin typeface="Calibri" pitchFamily="34" charset="0"/>
                <a:ea typeface="Calibri" pitchFamily="34" charset="-122"/>
                <a:cs typeface="Calibri" pitchFamily="34" charset="-120"/>
              </a:rPr>
              <a:t>We added a fruit bat (a bat that does NOT hunt by echo) and a cow (the dolphin's closest relative that does not). If our result is real, these two must not show the change.</a:t>
            </a:r>
            <a:endParaRPr lang="en-US" sz="1100" dirty="0"/>
          </a:p>
        </p:txBody>
      </p:sp>
      <p:sp>
        <p:nvSpPr>
          <p:cNvPr id="16" name="Shape 14"/>
          <p:cNvSpPr/>
          <p:nvPr/>
        </p:nvSpPr>
        <p:spPr>
          <a:xfrm>
            <a:off x="6126480" y="1371600"/>
            <a:ext cx="5532120" cy="2898648"/>
          </a:xfrm>
          <a:prstGeom prst="roundRect">
            <a:avLst>
              <a:gd name="adj" fmla="val 2524"/>
            </a:avLst>
          </a:prstGeom>
          <a:solidFill>
            <a:srgbClr val="FFFFFF"/>
          </a:solidFill>
          <a:ln/>
          <a:effectLst>
            <a:outerShdw sx="100000" sy="100000" kx="0" ky="0" algn="bl" rotWithShape="0" blurRad="127000" dist="19050" dir="5400000">
              <a:srgbClr val="9BA9B8">
                <a:alpha val="30000"/>
              </a:srgbClr>
            </a:outerShdw>
          </a:effectLst>
        </p:spPr>
      </p:sp>
      <p:pic>
        <p:nvPicPr>
          <p:cNvPr id="17" name="Image 0" descr="C:\Users\varad\AppData\Local\Temp\claude\C--Users-varad-OneDrive-Desktop-final-bio\5a01b15e-87b4-4afb-9bbf-d8d6ec6e1673\scratchpad\assets\tree.png">    </p:cNvPr>
          <p:cNvPicPr>
            <a:picLocks noChangeAspect="1"/>
          </p:cNvPicPr>
          <p:nvPr/>
        </p:nvPicPr>
        <p:blipFill>
          <a:blip r:embed="rId1"/>
          <a:stretch>
            <a:fillRect/>
          </a:stretch>
        </p:blipFill>
        <p:spPr>
          <a:xfrm>
            <a:off x="6217920" y="1463040"/>
            <a:ext cx="5349240" cy="2715768"/>
          </a:xfrm>
          <a:prstGeom prst="rect">
            <a:avLst/>
          </a:prstGeom>
        </p:spPr>
      </p:pic>
      <p:sp>
        <p:nvSpPr>
          <p:cNvPr id="18" name="Shape 15"/>
          <p:cNvSpPr/>
          <p:nvPr/>
        </p:nvSpPr>
        <p:spPr>
          <a:xfrm>
            <a:off x="6126480" y="4498848"/>
            <a:ext cx="5486400" cy="1737360"/>
          </a:xfrm>
          <a:prstGeom prst="roundRect">
            <a:avLst>
              <a:gd name="adj" fmla="val 5263"/>
            </a:avLst>
          </a:prstGeom>
          <a:solidFill>
            <a:srgbClr val="FFFFFF"/>
          </a:solidFill>
          <a:ln/>
          <a:effectLst>
            <a:outerShdw sx="100000" sy="100000" kx="0" ky="0" algn="bl" rotWithShape="0" blurRad="127000" dist="19050" dir="5400000">
              <a:srgbClr val="9BA9B8">
                <a:alpha val="28000"/>
              </a:srgbClr>
            </a:outerShdw>
          </a:effectLst>
        </p:spPr>
      </p:sp>
      <p:sp>
        <p:nvSpPr>
          <p:cNvPr id="19" name="Text 16"/>
          <p:cNvSpPr/>
          <p:nvPr/>
        </p:nvSpPr>
        <p:spPr>
          <a:xfrm>
            <a:off x="6400800" y="4681728"/>
            <a:ext cx="4572000" cy="310896"/>
          </a:xfrm>
          <a:prstGeom prst="rect">
            <a:avLst/>
          </a:prstGeom>
          <a:noFill/>
          <a:ln/>
        </p:spPr>
        <p:txBody>
          <a:bodyPr wrap="square" lIns="0" tIns="0" rIns="0" bIns="0" rtlCol="0" anchor="t"/>
          <a:lstStyle/>
          <a:p>
            <a:pPr indent="0" marL="0">
              <a:buNone/>
            </a:pPr>
            <a:r>
              <a:rPr lang="en-US" sz="1450" b="1" dirty="0">
                <a:solidFill>
                  <a:srgbClr val="10243A"/>
                </a:solidFill>
                <a:latin typeface="Cambria" pitchFamily="34" charset="0"/>
                <a:ea typeface="Cambria" pitchFamily="34" charset="-122"/>
                <a:cs typeface="Cambria" pitchFamily="34" charset="-120"/>
              </a:rPr>
              <a:t>What the family tree shows</a:t>
            </a:r>
            <a:endParaRPr lang="en-US" sz="1450" dirty="0"/>
          </a:p>
        </p:txBody>
      </p:sp>
      <p:sp>
        <p:nvSpPr>
          <p:cNvPr id="20" name="Text 17"/>
          <p:cNvSpPr/>
          <p:nvPr/>
        </p:nvSpPr>
        <p:spPr>
          <a:xfrm>
            <a:off x="6400800" y="5010912"/>
            <a:ext cx="4983480" cy="1097280"/>
          </a:xfrm>
          <a:prstGeom prst="rect">
            <a:avLst/>
          </a:prstGeom>
          <a:noFill/>
          <a:ln/>
        </p:spPr>
        <p:txBody>
          <a:bodyPr wrap="square" lIns="0" tIns="0" rIns="0" bIns="0" rtlCol="0" anchor="t"/>
          <a:lstStyle/>
          <a:p>
            <a:pPr indent="0" marL="0">
              <a:lnSpc>
                <a:spcPts val="1600"/>
              </a:lnSpc>
              <a:buNone/>
            </a:pPr>
            <a:r>
              <a:rPr lang="en-US" sz="1150" dirty="0">
                <a:solidFill>
                  <a:srgbClr val="1B2733"/>
                </a:solidFill>
                <a:latin typeface="Calibri" pitchFamily="34" charset="0"/>
                <a:ea typeface="Calibri" pitchFamily="34" charset="-122"/>
                <a:cs typeface="Calibri" pitchFamily="34" charset="-120"/>
              </a:rPr>
              <a:t>The red animals (the ones that hunt by echo) sit in two separate branches, far apart. The fruit bat, which does not hunt by echo, sits right next to the bats that do. This is exactly the pattern we need.</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548640" y="310896"/>
            <a:ext cx="11064240" cy="566928"/>
          </a:xfrm>
          <a:prstGeom prst="rect">
            <a:avLst/>
          </a:prstGeom>
          <a:noFill/>
          <a:ln/>
        </p:spPr>
        <p:txBody>
          <a:bodyPr wrap="square" lIns="0" tIns="0" rIns="0" bIns="0" rtlCol="0" anchor="ctr"/>
          <a:lstStyle/>
          <a:p>
            <a:pPr indent="0" marL="0">
              <a:buNone/>
            </a:pPr>
            <a:r>
              <a:rPr lang="en-US" sz="3200" b="1" dirty="0">
                <a:solidFill>
                  <a:srgbClr val="10243A"/>
                </a:solidFill>
                <a:latin typeface="Cambria" pitchFamily="34" charset="0"/>
                <a:ea typeface="Cambria" pitchFamily="34" charset="-122"/>
                <a:cs typeface="Cambria" pitchFamily="34" charset="-120"/>
              </a:rPr>
              <a:t>How we did it</a:t>
            </a:r>
            <a:endParaRPr lang="en-US" sz="3200" dirty="0"/>
          </a:p>
        </p:txBody>
      </p:sp>
      <p:sp>
        <p:nvSpPr>
          <p:cNvPr id="3" name="Text 1"/>
          <p:cNvSpPr/>
          <p:nvPr/>
        </p:nvSpPr>
        <p:spPr>
          <a:xfrm>
            <a:off x="566928" y="896112"/>
            <a:ext cx="11064240" cy="310896"/>
          </a:xfrm>
          <a:prstGeom prst="rect">
            <a:avLst/>
          </a:prstGeom>
          <a:noFill/>
          <a:ln/>
        </p:spPr>
        <p:txBody>
          <a:bodyPr wrap="square" lIns="0" tIns="0" rIns="0" bIns="0" rtlCol="0" anchor="ctr"/>
          <a:lstStyle/>
          <a:p>
            <a:pPr indent="0" marL="0">
              <a:buNone/>
            </a:pPr>
            <a:r>
              <a:rPr lang="en-US" sz="1400" dirty="0">
                <a:solidFill>
                  <a:srgbClr val="5A6672"/>
                </a:solidFill>
                <a:latin typeface="Calibri" pitchFamily="34" charset="0"/>
                <a:ea typeface="Calibri" pitchFamily="34" charset="-122"/>
                <a:cs typeface="Calibri" pitchFamily="34" charset="-120"/>
              </a:rPr>
              <a:t>All DNA is downloaded from public databases while the program runs. Nothing is made up or copied by hand.</a:t>
            </a:r>
            <a:endParaRPr lang="en-US" sz="1400" dirty="0"/>
          </a:p>
        </p:txBody>
      </p:sp>
      <p:sp>
        <p:nvSpPr>
          <p:cNvPr id="4" name="Shape 2"/>
          <p:cNvSpPr/>
          <p:nvPr/>
        </p:nvSpPr>
        <p:spPr>
          <a:xfrm>
            <a:off x="548640" y="1417320"/>
            <a:ext cx="5404104" cy="1371600"/>
          </a:xfrm>
          <a:prstGeom prst="roundRect">
            <a:avLst>
              <a:gd name="adj" fmla="val 6667"/>
            </a:avLst>
          </a:prstGeom>
          <a:solidFill>
            <a:srgbClr val="FFFFFF"/>
          </a:solidFill>
          <a:ln/>
          <a:effectLst>
            <a:outerShdw sx="100000" sy="100000" kx="0" ky="0" algn="bl" rotWithShape="0" blurRad="127000" dist="19050" dir="5400000">
              <a:srgbClr val="9BA9B8">
                <a:alpha val="28000"/>
              </a:srgbClr>
            </a:outerShdw>
          </a:effectLst>
        </p:spPr>
      </p:sp>
      <p:sp>
        <p:nvSpPr>
          <p:cNvPr id="5" name="Text 3"/>
          <p:cNvSpPr/>
          <p:nvPr/>
        </p:nvSpPr>
        <p:spPr>
          <a:xfrm>
            <a:off x="822960" y="1591056"/>
            <a:ext cx="4901184" cy="310896"/>
          </a:xfrm>
          <a:prstGeom prst="rect">
            <a:avLst/>
          </a:prstGeom>
          <a:noFill/>
          <a:ln/>
        </p:spPr>
        <p:txBody>
          <a:bodyPr wrap="square" lIns="0" tIns="0" rIns="0" bIns="0" rtlCol="0" anchor="t"/>
          <a:lstStyle/>
          <a:p>
            <a:pPr indent="0" marL="0">
              <a:buNone/>
            </a:pPr>
            <a:r>
              <a:rPr lang="en-US" sz="1450" b="1" dirty="0">
                <a:solidFill>
                  <a:srgbClr val="2E7DD1"/>
                </a:solidFill>
                <a:latin typeface="Cambria" pitchFamily="34" charset="0"/>
                <a:ea typeface="Cambria" pitchFamily="34" charset="-122"/>
                <a:cs typeface="Cambria" pitchFamily="34" charset="-120"/>
              </a:rPr>
              <a:t>NCBI</a:t>
            </a:r>
            <a:endParaRPr lang="en-US" sz="1450" dirty="0"/>
          </a:p>
        </p:txBody>
      </p:sp>
      <p:sp>
        <p:nvSpPr>
          <p:cNvPr id="6" name="Text 4"/>
          <p:cNvSpPr/>
          <p:nvPr/>
        </p:nvSpPr>
        <p:spPr>
          <a:xfrm>
            <a:off x="822960" y="1920240"/>
            <a:ext cx="4901184" cy="777240"/>
          </a:xfrm>
          <a:prstGeom prst="rect">
            <a:avLst/>
          </a:prstGeom>
          <a:noFill/>
          <a:ln/>
        </p:spPr>
        <p:txBody>
          <a:bodyPr wrap="square" lIns="0" tIns="0" rIns="0" bIns="0" rtlCol="0" anchor="t"/>
          <a:lstStyle/>
          <a:p>
            <a:pPr indent="0" marL="0">
              <a:lnSpc>
                <a:spcPts val="1500"/>
              </a:lnSpc>
              <a:buNone/>
            </a:pPr>
            <a:r>
              <a:rPr lang="en-US" sz="1100" dirty="0">
                <a:solidFill>
                  <a:srgbClr val="1B2733"/>
                </a:solidFill>
                <a:latin typeface="Calibri" pitchFamily="34" charset="0"/>
                <a:ea typeface="Calibri" pitchFamily="34" charset="-122"/>
                <a:cs typeface="Calibri" pitchFamily="34" charset="-120"/>
              </a:rPr>
              <a:t>The DNA of the prestin gene for all 10 animals</a:t>
            </a:r>
            <a:endParaRPr lang="en-US" sz="1100" dirty="0"/>
          </a:p>
        </p:txBody>
      </p:sp>
      <p:sp>
        <p:nvSpPr>
          <p:cNvPr id="10" name="Shape 8"/>
          <p:cNvSpPr/>
          <p:nvPr/>
        </p:nvSpPr>
        <p:spPr>
          <a:xfrm>
            <a:off x="6208776" y="1417320"/>
            <a:ext cx="5404104" cy="1371600"/>
          </a:xfrm>
          <a:prstGeom prst="roundRect">
            <a:avLst>
              <a:gd name="adj" fmla="val 6667"/>
            </a:avLst>
          </a:prstGeom>
          <a:solidFill>
            <a:srgbClr val="FFFFFF"/>
          </a:solidFill>
          <a:ln/>
          <a:effectLst>
            <a:outerShdw sx="100000" sy="100000" kx="0" ky="0" algn="bl" rotWithShape="0" blurRad="127000" dist="19050" dir="5400000">
              <a:srgbClr val="9BA9B8">
                <a:alpha val="28000"/>
              </a:srgbClr>
            </a:outerShdw>
          </a:effectLst>
        </p:spPr>
      </p:sp>
      <p:sp>
        <p:nvSpPr>
          <p:cNvPr id="11" name="Text 9"/>
          <p:cNvSpPr/>
          <p:nvPr/>
        </p:nvSpPr>
        <p:spPr>
          <a:xfrm>
            <a:off x="6483096" y="1591056"/>
            <a:ext cx="4901184" cy="310896"/>
          </a:xfrm>
          <a:prstGeom prst="rect">
            <a:avLst/>
          </a:prstGeom>
          <a:noFill/>
          <a:ln/>
        </p:spPr>
        <p:txBody>
          <a:bodyPr wrap="square" lIns="0" tIns="0" rIns="0" bIns="0" rtlCol="0" anchor="t"/>
          <a:lstStyle/>
          <a:p>
            <a:pPr indent="0" marL="0">
              <a:buNone/>
            </a:pPr>
            <a:r>
              <a:rPr lang="en-US" sz="1450" b="1" dirty="0">
                <a:solidFill>
                  <a:srgbClr val="F0A202"/>
                </a:solidFill>
                <a:latin typeface="Cambria" pitchFamily="34" charset="0"/>
                <a:ea typeface="Cambria" pitchFamily="34" charset="-122"/>
                <a:cs typeface="Cambria" pitchFamily="34" charset="-120"/>
              </a:rPr>
              <a:t>UniProt</a:t>
            </a:r>
            <a:endParaRPr lang="en-US" sz="1450" dirty="0"/>
          </a:p>
        </p:txBody>
      </p:sp>
      <p:sp>
        <p:nvSpPr>
          <p:cNvPr id="12" name="Text 10"/>
          <p:cNvSpPr/>
          <p:nvPr/>
        </p:nvSpPr>
        <p:spPr>
          <a:xfrm>
            <a:off x="6483096" y="1920240"/>
            <a:ext cx="4901184" cy="777240"/>
          </a:xfrm>
          <a:prstGeom prst="rect">
            <a:avLst/>
          </a:prstGeom>
          <a:noFill/>
          <a:ln/>
        </p:spPr>
        <p:txBody>
          <a:bodyPr wrap="square" lIns="0" tIns="0" rIns="0" bIns="0" rtlCol="0" anchor="t"/>
          <a:lstStyle/>
          <a:p>
            <a:pPr indent="0" marL="0">
              <a:lnSpc>
                <a:spcPts val="1500"/>
              </a:lnSpc>
              <a:buNone/>
            </a:pPr>
            <a:r>
              <a:rPr lang="en-US" sz="1100" dirty="0">
                <a:solidFill>
                  <a:srgbClr val="1B2733"/>
                </a:solidFill>
                <a:latin typeface="Calibri" pitchFamily="34" charset="0"/>
                <a:ea typeface="Calibri" pitchFamily="34" charset="-122"/>
                <a:cs typeface="Calibri" pitchFamily="34" charset="-120"/>
              </a:rPr>
              <a:t>Which part of the protein sits inside the cell, and which part crosses the membrane</a:t>
            </a:r>
            <a:endParaRPr lang="en-US" sz="1100" dirty="0"/>
          </a:p>
        </p:txBody>
      </p:sp>
      <p:sp>
        <p:nvSpPr>
          <p:cNvPr id="13" name="Shape 11"/>
          <p:cNvSpPr/>
          <p:nvPr/>
        </p:nvSpPr>
        <p:spPr>
          <a:xfrm>
            <a:off x="548640" y="2999232"/>
            <a:ext cx="11064240" cy="2194560"/>
          </a:xfrm>
          <a:prstGeom prst="roundRect">
            <a:avLst>
              <a:gd name="adj" fmla="val 4167"/>
            </a:avLst>
          </a:prstGeom>
          <a:solidFill>
            <a:srgbClr val="FFFFFF"/>
          </a:solidFill>
          <a:ln/>
          <a:effectLst>
            <a:outerShdw sx="100000" sy="100000" kx="0" ky="0" algn="bl" rotWithShape="0" blurRad="127000" dist="19050" dir="5400000">
              <a:srgbClr val="9BA9B8">
                <a:alpha val="28000"/>
              </a:srgbClr>
            </a:outerShdw>
          </a:effectLst>
        </p:spPr>
      </p:sp>
      <p:sp>
        <p:nvSpPr>
          <p:cNvPr id="14" name="Text 12"/>
          <p:cNvSpPr/>
          <p:nvPr/>
        </p:nvSpPr>
        <p:spPr>
          <a:xfrm>
            <a:off x="868680" y="3182112"/>
            <a:ext cx="5029200" cy="310896"/>
          </a:xfrm>
          <a:prstGeom prst="rect">
            <a:avLst/>
          </a:prstGeom>
          <a:noFill/>
          <a:ln/>
        </p:spPr>
        <p:txBody>
          <a:bodyPr wrap="square" lIns="0" tIns="0" rIns="0" bIns="0" rtlCol="0" anchor="t"/>
          <a:lstStyle/>
          <a:p>
            <a:pPr indent="0" marL="0">
              <a:buNone/>
            </a:pPr>
            <a:r>
              <a:rPr lang="en-US" sz="1600" b="1" dirty="0">
                <a:solidFill>
                  <a:srgbClr val="10243A"/>
                </a:solidFill>
                <a:latin typeface="Cambria" pitchFamily="34" charset="0"/>
                <a:ea typeface="Cambria" pitchFamily="34" charset="-122"/>
                <a:cs typeface="Cambria" pitchFamily="34" charset="-120"/>
              </a:rPr>
              <a:t>What the program does, step by step</a:t>
            </a:r>
            <a:endParaRPr lang="en-US" sz="1600" dirty="0"/>
          </a:p>
        </p:txBody>
      </p:sp>
      <p:sp>
        <p:nvSpPr>
          <p:cNvPr id="15" name="Shape 13"/>
          <p:cNvSpPr/>
          <p:nvPr/>
        </p:nvSpPr>
        <p:spPr>
          <a:xfrm>
            <a:off x="868680" y="3639312"/>
            <a:ext cx="310896" cy="310896"/>
          </a:xfrm>
          <a:prstGeom prst="ellipse">
            <a:avLst/>
          </a:prstGeom>
          <a:solidFill>
            <a:srgbClr val="10243A"/>
          </a:solidFill>
          <a:ln/>
        </p:spPr>
      </p:sp>
      <p:sp>
        <p:nvSpPr>
          <p:cNvPr id="16" name="Text 14"/>
          <p:cNvSpPr/>
          <p:nvPr/>
        </p:nvSpPr>
        <p:spPr>
          <a:xfrm>
            <a:off x="868680" y="363931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7" name="Shape 15"/>
          <p:cNvSpPr/>
          <p:nvPr/>
        </p:nvSpPr>
        <p:spPr>
          <a:xfrm>
            <a:off x="1234440" y="3794760"/>
            <a:ext cx="1691640" cy="0"/>
          </a:xfrm>
          <a:prstGeom prst="line">
            <a:avLst/>
          </a:prstGeom>
          <a:noFill/>
          <a:ln w="19050">
            <a:solidFill>
              <a:srgbClr val="C3CFDB"/>
            </a:solidFill>
            <a:prstDash val="solid"/>
          </a:ln>
        </p:spPr>
      </p:sp>
      <p:sp>
        <p:nvSpPr>
          <p:cNvPr id="18" name="Text 16"/>
          <p:cNvSpPr/>
          <p:nvPr/>
        </p:nvSpPr>
        <p:spPr>
          <a:xfrm>
            <a:off x="813816" y="4041648"/>
            <a:ext cx="2011680" cy="274320"/>
          </a:xfrm>
          <a:prstGeom prst="rect">
            <a:avLst/>
          </a:prstGeom>
          <a:noFill/>
          <a:ln/>
        </p:spPr>
        <p:txBody>
          <a:bodyPr wrap="square" lIns="0" tIns="0" rIns="0" bIns="0" rtlCol="0" anchor="ctr"/>
          <a:lstStyle/>
          <a:p>
            <a:pPr indent="0" marL="0">
              <a:buNone/>
            </a:pPr>
            <a:r>
              <a:rPr lang="en-US" sz="1150" b="1" dirty="0">
                <a:solidFill>
                  <a:srgbClr val="10243A"/>
                </a:solidFill>
                <a:latin typeface="Calibri" pitchFamily="34" charset="0"/>
                <a:ea typeface="Calibri" pitchFamily="34" charset="-122"/>
                <a:cs typeface="Calibri" pitchFamily="34" charset="-120"/>
              </a:rPr>
              <a:t>Line up the genes</a:t>
            </a:r>
            <a:endParaRPr lang="en-US" sz="1150" dirty="0"/>
          </a:p>
        </p:txBody>
      </p:sp>
      <p:sp>
        <p:nvSpPr>
          <p:cNvPr id="19" name="Text 17"/>
          <p:cNvSpPr/>
          <p:nvPr/>
        </p:nvSpPr>
        <p:spPr>
          <a:xfrm>
            <a:off x="813816" y="4315968"/>
            <a:ext cx="1975104" cy="777240"/>
          </a:xfrm>
          <a:prstGeom prst="rect">
            <a:avLst/>
          </a:prstGeom>
          <a:noFill/>
          <a:ln/>
        </p:spPr>
        <p:txBody>
          <a:bodyPr wrap="square" lIns="0" tIns="0" rIns="0" bIns="0" rtlCol="0" anchor="t"/>
          <a:lstStyle/>
          <a:p>
            <a:pPr indent="0" marL="0">
              <a:lnSpc>
                <a:spcPts val="1250"/>
              </a:lnSpc>
              <a:buNone/>
            </a:pPr>
            <a:r>
              <a:rPr lang="en-US" sz="980" dirty="0">
                <a:solidFill>
                  <a:srgbClr val="5A6672"/>
                </a:solidFill>
                <a:latin typeface="Calibri" pitchFamily="34" charset="0"/>
                <a:ea typeface="Calibri" pitchFamily="34" charset="-122"/>
                <a:cs typeface="Calibri" pitchFamily="34" charset="-120"/>
              </a:rPr>
              <a:t>Put the same gene from all 10 animals side by side, letter under letter.</a:t>
            </a:r>
            <a:endParaRPr lang="en-US" sz="980" dirty="0"/>
          </a:p>
        </p:txBody>
      </p:sp>
      <p:sp>
        <p:nvSpPr>
          <p:cNvPr id="20" name="Shape 18"/>
          <p:cNvSpPr/>
          <p:nvPr/>
        </p:nvSpPr>
        <p:spPr>
          <a:xfrm>
            <a:off x="3026664" y="3639312"/>
            <a:ext cx="310896" cy="310896"/>
          </a:xfrm>
          <a:prstGeom prst="ellipse">
            <a:avLst/>
          </a:prstGeom>
          <a:solidFill>
            <a:srgbClr val="10243A"/>
          </a:solidFill>
          <a:ln/>
        </p:spPr>
      </p:sp>
      <p:sp>
        <p:nvSpPr>
          <p:cNvPr id="21" name="Text 19"/>
          <p:cNvSpPr/>
          <p:nvPr/>
        </p:nvSpPr>
        <p:spPr>
          <a:xfrm>
            <a:off x="3026664" y="363931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2" name="Shape 20"/>
          <p:cNvSpPr/>
          <p:nvPr/>
        </p:nvSpPr>
        <p:spPr>
          <a:xfrm>
            <a:off x="3392424" y="3794760"/>
            <a:ext cx="1691640" cy="0"/>
          </a:xfrm>
          <a:prstGeom prst="line">
            <a:avLst/>
          </a:prstGeom>
          <a:noFill/>
          <a:ln w="19050">
            <a:solidFill>
              <a:srgbClr val="C3CFDB"/>
            </a:solidFill>
            <a:prstDash val="solid"/>
          </a:ln>
        </p:spPr>
      </p:sp>
      <p:sp>
        <p:nvSpPr>
          <p:cNvPr id="23" name="Text 21"/>
          <p:cNvSpPr/>
          <p:nvPr/>
        </p:nvSpPr>
        <p:spPr>
          <a:xfrm>
            <a:off x="2971800" y="4041648"/>
            <a:ext cx="2011680" cy="274320"/>
          </a:xfrm>
          <a:prstGeom prst="rect">
            <a:avLst/>
          </a:prstGeom>
          <a:noFill/>
          <a:ln/>
        </p:spPr>
        <p:txBody>
          <a:bodyPr wrap="square" lIns="0" tIns="0" rIns="0" bIns="0" rtlCol="0" anchor="ctr"/>
          <a:lstStyle/>
          <a:p>
            <a:pPr indent="0" marL="0">
              <a:buNone/>
            </a:pPr>
            <a:r>
              <a:rPr lang="en-US" sz="1150" b="1" dirty="0">
                <a:solidFill>
                  <a:srgbClr val="10243A"/>
                </a:solidFill>
                <a:latin typeface="Calibri" pitchFamily="34" charset="0"/>
                <a:ea typeface="Calibri" pitchFamily="34" charset="-122"/>
                <a:cs typeface="Calibri" pitchFamily="34" charset="-120"/>
              </a:rPr>
              <a:t>Draw the family tree</a:t>
            </a:r>
            <a:endParaRPr lang="en-US" sz="1150" dirty="0"/>
          </a:p>
        </p:txBody>
      </p:sp>
      <p:sp>
        <p:nvSpPr>
          <p:cNvPr id="24" name="Text 22"/>
          <p:cNvSpPr/>
          <p:nvPr/>
        </p:nvSpPr>
        <p:spPr>
          <a:xfrm>
            <a:off x="2971800" y="4315968"/>
            <a:ext cx="1975104" cy="777240"/>
          </a:xfrm>
          <a:prstGeom prst="rect">
            <a:avLst/>
          </a:prstGeom>
          <a:noFill/>
          <a:ln/>
        </p:spPr>
        <p:txBody>
          <a:bodyPr wrap="square" lIns="0" tIns="0" rIns="0" bIns="0" rtlCol="0" anchor="t"/>
          <a:lstStyle/>
          <a:p>
            <a:pPr indent="0" marL="0">
              <a:lnSpc>
                <a:spcPts val="1250"/>
              </a:lnSpc>
              <a:buNone/>
            </a:pPr>
            <a:r>
              <a:rPr lang="en-US" sz="980" dirty="0">
                <a:solidFill>
                  <a:srgbClr val="5A6672"/>
                </a:solidFill>
                <a:latin typeface="Calibri" pitchFamily="34" charset="0"/>
                <a:ea typeface="Calibri" pitchFamily="34" charset="-122"/>
                <a:cs typeface="Calibri" pitchFamily="34" charset="-120"/>
              </a:rPr>
              <a:t>Work out which animals are close relatives and which are not.</a:t>
            </a:r>
            <a:endParaRPr lang="en-US" sz="980" dirty="0"/>
          </a:p>
        </p:txBody>
      </p:sp>
      <p:sp>
        <p:nvSpPr>
          <p:cNvPr id="25" name="Shape 23"/>
          <p:cNvSpPr/>
          <p:nvPr/>
        </p:nvSpPr>
        <p:spPr>
          <a:xfrm>
            <a:off x="5184648" y="3639312"/>
            <a:ext cx="310896" cy="310896"/>
          </a:xfrm>
          <a:prstGeom prst="ellipse">
            <a:avLst/>
          </a:prstGeom>
          <a:solidFill>
            <a:srgbClr val="10243A"/>
          </a:solidFill>
          <a:ln/>
        </p:spPr>
      </p:sp>
      <p:sp>
        <p:nvSpPr>
          <p:cNvPr id="26" name="Text 24"/>
          <p:cNvSpPr/>
          <p:nvPr/>
        </p:nvSpPr>
        <p:spPr>
          <a:xfrm>
            <a:off x="5184648" y="363931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7" name="Shape 25"/>
          <p:cNvSpPr/>
          <p:nvPr/>
        </p:nvSpPr>
        <p:spPr>
          <a:xfrm>
            <a:off x="5550408" y="3794760"/>
            <a:ext cx="1691640" cy="0"/>
          </a:xfrm>
          <a:prstGeom prst="line">
            <a:avLst/>
          </a:prstGeom>
          <a:noFill/>
          <a:ln w="19050">
            <a:solidFill>
              <a:srgbClr val="C3CFDB"/>
            </a:solidFill>
            <a:prstDash val="solid"/>
          </a:ln>
        </p:spPr>
      </p:sp>
      <p:sp>
        <p:nvSpPr>
          <p:cNvPr id="28" name="Text 26"/>
          <p:cNvSpPr/>
          <p:nvPr/>
        </p:nvSpPr>
        <p:spPr>
          <a:xfrm>
            <a:off x="5129784" y="4041648"/>
            <a:ext cx="2011680" cy="274320"/>
          </a:xfrm>
          <a:prstGeom prst="rect">
            <a:avLst/>
          </a:prstGeom>
          <a:noFill/>
          <a:ln/>
        </p:spPr>
        <p:txBody>
          <a:bodyPr wrap="square" lIns="0" tIns="0" rIns="0" bIns="0" rtlCol="0" anchor="ctr"/>
          <a:lstStyle/>
          <a:p>
            <a:pPr indent="0" marL="0">
              <a:buNone/>
            </a:pPr>
            <a:r>
              <a:rPr lang="en-US" sz="1150" b="1" dirty="0">
                <a:solidFill>
                  <a:srgbClr val="10243A"/>
                </a:solidFill>
                <a:latin typeface="Calibri" pitchFamily="34" charset="0"/>
                <a:ea typeface="Calibri" pitchFamily="34" charset="-122"/>
                <a:cs typeface="Calibri" pitchFamily="34" charset="-120"/>
              </a:rPr>
              <a:t>Score every position</a:t>
            </a:r>
            <a:endParaRPr lang="en-US" sz="1150" dirty="0"/>
          </a:p>
        </p:txBody>
      </p:sp>
      <p:sp>
        <p:nvSpPr>
          <p:cNvPr id="29" name="Text 27"/>
          <p:cNvSpPr/>
          <p:nvPr/>
        </p:nvSpPr>
        <p:spPr>
          <a:xfrm>
            <a:off x="5129784" y="4315968"/>
            <a:ext cx="1975104" cy="777240"/>
          </a:xfrm>
          <a:prstGeom prst="rect">
            <a:avLst/>
          </a:prstGeom>
          <a:noFill/>
          <a:ln/>
        </p:spPr>
        <p:txBody>
          <a:bodyPr wrap="square" lIns="0" tIns="0" rIns="0" bIns="0" rtlCol="0" anchor="t"/>
          <a:lstStyle/>
          <a:p>
            <a:pPr indent="0" marL="0">
              <a:lnSpc>
                <a:spcPts val="1250"/>
              </a:lnSpc>
              <a:buNone/>
            </a:pPr>
            <a:r>
              <a:rPr lang="en-US" sz="980" dirty="0">
                <a:solidFill>
                  <a:srgbClr val="5A6672"/>
                </a:solidFill>
                <a:latin typeface="Calibri" pitchFamily="34" charset="0"/>
                <a:ea typeface="Calibri" pitchFamily="34" charset="-122"/>
                <a:cs typeface="Calibri" pitchFamily="34" charset="-120"/>
              </a:rPr>
              <a:t>At each spot, check if the echo-hunters share a letter the others do not have.</a:t>
            </a:r>
            <a:endParaRPr lang="en-US" sz="980" dirty="0"/>
          </a:p>
        </p:txBody>
      </p:sp>
      <p:sp>
        <p:nvSpPr>
          <p:cNvPr id="30" name="Shape 28"/>
          <p:cNvSpPr/>
          <p:nvPr/>
        </p:nvSpPr>
        <p:spPr>
          <a:xfrm>
            <a:off x="7342632" y="3639312"/>
            <a:ext cx="310896" cy="310896"/>
          </a:xfrm>
          <a:prstGeom prst="ellipse">
            <a:avLst/>
          </a:prstGeom>
          <a:solidFill>
            <a:srgbClr val="10243A"/>
          </a:solidFill>
          <a:ln/>
        </p:spPr>
      </p:sp>
      <p:sp>
        <p:nvSpPr>
          <p:cNvPr id="31" name="Text 29"/>
          <p:cNvSpPr/>
          <p:nvPr/>
        </p:nvSpPr>
        <p:spPr>
          <a:xfrm>
            <a:off x="7342632" y="363931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32" name="Shape 30"/>
          <p:cNvSpPr/>
          <p:nvPr/>
        </p:nvSpPr>
        <p:spPr>
          <a:xfrm>
            <a:off x="7708392" y="3794760"/>
            <a:ext cx="1691640" cy="0"/>
          </a:xfrm>
          <a:prstGeom prst="line">
            <a:avLst/>
          </a:prstGeom>
          <a:noFill/>
          <a:ln w="19050">
            <a:solidFill>
              <a:srgbClr val="C3CFDB"/>
            </a:solidFill>
            <a:prstDash val="solid"/>
          </a:ln>
        </p:spPr>
      </p:sp>
      <p:sp>
        <p:nvSpPr>
          <p:cNvPr id="33" name="Text 31"/>
          <p:cNvSpPr/>
          <p:nvPr/>
        </p:nvSpPr>
        <p:spPr>
          <a:xfrm>
            <a:off x="7287768" y="4041648"/>
            <a:ext cx="2011680" cy="274320"/>
          </a:xfrm>
          <a:prstGeom prst="rect">
            <a:avLst/>
          </a:prstGeom>
          <a:noFill/>
          <a:ln/>
        </p:spPr>
        <p:txBody>
          <a:bodyPr wrap="square" lIns="0" tIns="0" rIns="0" bIns="0" rtlCol="0" anchor="ctr"/>
          <a:lstStyle/>
          <a:p>
            <a:pPr indent="0" marL="0">
              <a:buNone/>
            </a:pPr>
            <a:r>
              <a:rPr lang="en-US" sz="1150" b="1" dirty="0">
                <a:solidFill>
                  <a:srgbClr val="10243A"/>
                </a:solidFill>
                <a:latin typeface="Calibri" pitchFamily="34" charset="0"/>
                <a:ea typeface="Calibri" pitchFamily="34" charset="-122"/>
                <a:cs typeface="Calibri" pitchFamily="34" charset="-120"/>
              </a:rPr>
              <a:t>Test the result</a:t>
            </a:r>
            <a:endParaRPr lang="en-US" sz="1150" dirty="0"/>
          </a:p>
        </p:txBody>
      </p:sp>
      <p:sp>
        <p:nvSpPr>
          <p:cNvPr id="34" name="Text 32"/>
          <p:cNvSpPr/>
          <p:nvPr/>
        </p:nvSpPr>
        <p:spPr>
          <a:xfrm>
            <a:off x="7287768" y="4315968"/>
            <a:ext cx="1975104" cy="777240"/>
          </a:xfrm>
          <a:prstGeom prst="rect">
            <a:avLst/>
          </a:prstGeom>
          <a:noFill/>
          <a:ln/>
        </p:spPr>
        <p:txBody>
          <a:bodyPr wrap="square" lIns="0" tIns="0" rIns="0" bIns="0" rtlCol="0" anchor="t"/>
          <a:lstStyle/>
          <a:p>
            <a:pPr indent="0" marL="0">
              <a:lnSpc>
                <a:spcPts val="1250"/>
              </a:lnSpc>
              <a:buNone/>
            </a:pPr>
            <a:r>
              <a:rPr lang="en-US" sz="980" dirty="0">
                <a:solidFill>
                  <a:srgbClr val="5A6672"/>
                </a:solidFill>
                <a:latin typeface="Calibri" pitchFamily="34" charset="0"/>
                <a:ea typeface="Calibri" pitchFamily="34" charset="-122"/>
                <a:cs typeface="Calibri" pitchFamily="34" charset="-120"/>
              </a:rPr>
              <a:t>Give the label to 4 random animals, 10,000 times. Only 126 of those runs matched our result.</a:t>
            </a:r>
            <a:endParaRPr lang="en-US" sz="980" dirty="0"/>
          </a:p>
        </p:txBody>
      </p:sp>
      <p:sp>
        <p:nvSpPr>
          <p:cNvPr id="35" name="Shape 33"/>
          <p:cNvSpPr/>
          <p:nvPr/>
        </p:nvSpPr>
        <p:spPr>
          <a:xfrm>
            <a:off x="9500616" y="3639312"/>
            <a:ext cx="310896" cy="310896"/>
          </a:xfrm>
          <a:prstGeom prst="ellipse">
            <a:avLst/>
          </a:prstGeom>
          <a:solidFill>
            <a:srgbClr val="10243A"/>
          </a:solidFill>
          <a:ln/>
        </p:spPr>
      </p:sp>
      <p:sp>
        <p:nvSpPr>
          <p:cNvPr id="36" name="Text 34"/>
          <p:cNvSpPr/>
          <p:nvPr/>
        </p:nvSpPr>
        <p:spPr>
          <a:xfrm>
            <a:off x="9500616" y="363931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7" name="Text 35"/>
          <p:cNvSpPr/>
          <p:nvPr/>
        </p:nvSpPr>
        <p:spPr>
          <a:xfrm>
            <a:off x="9445752" y="4041648"/>
            <a:ext cx="2011680" cy="274320"/>
          </a:xfrm>
          <a:prstGeom prst="rect">
            <a:avLst/>
          </a:prstGeom>
          <a:noFill/>
          <a:ln/>
        </p:spPr>
        <p:txBody>
          <a:bodyPr wrap="square" lIns="0" tIns="0" rIns="0" bIns="0" rtlCol="0" anchor="ctr"/>
          <a:lstStyle/>
          <a:p>
            <a:pPr indent="0" marL="0">
              <a:buNone/>
            </a:pPr>
            <a:r>
              <a:rPr lang="en-US" sz="1150" b="1" dirty="0">
                <a:solidFill>
                  <a:srgbClr val="10243A"/>
                </a:solidFill>
                <a:latin typeface="Calibri" pitchFamily="34" charset="0"/>
                <a:ea typeface="Calibri" pitchFamily="34" charset="-122"/>
                <a:cs typeface="Calibri" pitchFamily="34" charset="-120"/>
              </a:rPr>
              <a:t>Build the graph</a:t>
            </a:r>
            <a:endParaRPr lang="en-US" sz="1150" dirty="0"/>
          </a:p>
        </p:txBody>
      </p:sp>
      <p:sp>
        <p:nvSpPr>
          <p:cNvPr id="38" name="Text 36"/>
          <p:cNvSpPr/>
          <p:nvPr/>
        </p:nvSpPr>
        <p:spPr>
          <a:xfrm>
            <a:off x="9445752" y="4315968"/>
            <a:ext cx="1975104" cy="777240"/>
          </a:xfrm>
          <a:prstGeom prst="rect">
            <a:avLst/>
          </a:prstGeom>
          <a:noFill/>
          <a:ln/>
        </p:spPr>
        <p:txBody>
          <a:bodyPr wrap="square" lIns="0" tIns="0" rIns="0" bIns="0" rtlCol="0" anchor="t"/>
          <a:lstStyle/>
          <a:p>
            <a:pPr indent="0" marL="0">
              <a:lnSpc>
                <a:spcPts val="1250"/>
              </a:lnSpc>
              <a:buNone/>
            </a:pPr>
            <a:r>
              <a:rPr lang="en-US" sz="980" dirty="0">
                <a:solidFill>
                  <a:srgbClr val="5A6672"/>
                </a:solidFill>
                <a:latin typeface="Calibri" pitchFamily="34" charset="0"/>
                <a:ea typeface="Calibri" pitchFamily="34" charset="-122"/>
                <a:cs typeface="Calibri" pitchFamily="34" charset="-120"/>
              </a:rPr>
              <a:t>Join the parts that are the same, and open a bubble where they differ.</a:t>
            </a:r>
            <a:endParaRPr lang="en-US" sz="980" dirty="0"/>
          </a:p>
        </p:txBody>
      </p:sp>
      <p:sp>
        <p:nvSpPr>
          <p:cNvPr id="39" name="Text 37"/>
          <p:cNvSpPr/>
          <p:nvPr/>
        </p:nvSpPr>
        <p:spPr>
          <a:xfrm>
            <a:off x="685800" y="5440680"/>
            <a:ext cx="2651760" cy="502920"/>
          </a:xfrm>
          <a:prstGeom prst="rect">
            <a:avLst/>
          </a:prstGeom>
          <a:noFill/>
          <a:ln/>
        </p:spPr>
        <p:txBody>
          <a:bodyPr wrap="square" lIns="0" tIns="0" rIns="0" bIns="0" rtlCol="0" anchor="ctr"/>
          <a:lstStyle/>
          <a:p>
            <a:pPr indent="0" marL="0">
              <a:buNone/>
            </a:pPr>
            <a:r>
              <a:rPr lang="en-US" sz="3000" b="1" dirty="0">
                <a:solidFill>
                  <a:srgbClr val="2E7DD1"/>
                </a:solidFill>
                <a:latin typeface="Cambria" pitchFamily="34" charset="0"/>
                <a:ea typeface="Cambria" pitchFamily="34" charset="-122"/>
                <a:cs typeface="Cambria" pitchFamily="34" charset="-120"/>
              </a:rPr>
              <a:t>10</a:t>
            </a:r>
            <a:endParaRPr lang="en-US" sz="3000" dirty="0"/>
          </a:p>
        </p:txBody>
      </p:sp>
      <p:sp>
        <p:nvSpPr>
          <p:cNvPr id="40" name="Text 38"/>
          <p:cNvSpPr/>
          <p:nvPr/>
        </p:nvSpPr>
        <p:spPr>
          <a:xfrm>
            <a:off x="685800" y="5943600"/>
            <a:ext cx="2651760" cy="310896"/>
          </a:xfrm>
          <a:prstGeom prst="rect">
            <a:avLst/>
          </a:prstGeom>
          <a:noFill/>
          <a:ln/>
        </p:spPr>
        <p:txBody>
          <a:bodyPr wrap="square" lIns="0" tIns="0" rIns="0" bIns="0" rtlCol="0" anchor="ctr"/>
          <a:lstStyle/>
          <a:p>
            <a:pPr indent="0" marL="0">
              <a:buNone/>
            </a:pPr>
            <a:r>
              <a:rPr lang="en-US" sz="1150" dirty="0">
                <a:solidFill>
                  <a:srgbClr val="5A6672"/>
                </a:solidFill>
                <a:latin typeface="Calibri" pitchFamily="34" charset="0"/>
                <a:ea typeface="Calibri" pitchFamily="34" charset="-122"/>
                <a:cs typeface="Calibri" pitchFamily="34" charset="-120"/>
              </a:rPr>
              <a:t>animals compared</a:t>
            </a:r>
            <a:endParaRPr lang="en-US" sz="1150" dirty="0"/>
          </a:p>
        </p:txBody>
      </p:sp>
      <p:sp>
        <p:nvSpPr>
          <p:cNvPr id="41" name="Text 39"/>
          <p:cNvSpPr/>
          <p:nvPr/>
        </p:nvSpPr>
        <p:spPr>
          <a:xfrm>
            <a:off x="3520440" y="5440680"/>
            <a:ext cx="2651760" cy="502920"/>
          </a:xfrm>
          <a:prstGeom prst="rect">
            <a:avLst/>
          </a:prstGeom>
          <a:noFill/>
          <a:ln/>
        </p:spPr>
        <p:txBody>
          <a:bodyPr wrap="square" lIns="0" tIns="0" rIns="0" bIns="0" rtlCol="0" anchor="ctr"/>
          <a:lstStyle/>
          <a:p>
            <a:pPr indent="0" marL="0">
              <a:buNone/>
            </a:pPr>
            <a:r>
              <a:rPr lang="en-US" sz="3000" b="1" dirty="0">
                <a:solidFill>
                  <a:srgbClr val="10243A"/>
                </a:solidFill>
                <a:latin typeface="Cambria" pitchFamily="34" charset="0"/>
                <a:ea typeface="Cambria" pitchFamily="34" charset="-122"/>
                <a:cs typeface="Cambria" pitchFamily="34" charset="-120"/>
              </a:rPr>
              <a:t>744</a:t>
            </a:r>
            <a:endParaRPr lang="en-US" sz="3000" dirty="0"/>
          </a:p>
        </p:txBody>
      </p:sp>
      <p:sp>
        <p:nvSpPr>
          <p:cNvPr id="42" name="Text 40"/>
          <p:cNvSpPr/>
          <p:nvPr/>
        </p:nvSpPr>
        <p:spPr>
          <a:xfrm>
            <a:off x="3520440" y="5943600"/>
            <a:ext cx="2651760" cy="310896"/>
          </a:xfrm>
          <a:prstGeom prst="rect">
            <a:avLst/>
          </a:prstGeom>
          <a:noFill/>
          <a:ln/>
        </p:spPr>
        <p:txBody>
          <a:bodyPr wrap="square" lIns="0" tIns="0" rIns="0" bIns="0" rtlCol="0" anchor="ctr"/>
          <a:lstStyle/>
          <a:p>
            <a:pPr indent="0" marL="0">
              <a:buNone/>
            </a:pPr>
            <a:r>
              <a:rPr lang="en-US" sz="1150" dirty="0">
                <a:solidFill>
                  <a:srgbClr val="5A6672"/>
                </a:solidFill>
                <a:latin typeface="Calibri" pitchFamily="34" charset="0"/>
                <a:ea typeface="Calibri" pitchFamily="34" charset="-122"/>
                <a:cs typeface="Calibri" pitchFamily="34" charset="-120"/>
              </a:rPr>
              <a:t>protein letters</a:t>
            </a:r>
            <a:endParaRPr lang="en-US" sz="1150" dirty="0"/>
          </a:p>
        </p:txBody>
      </p:sp>
      <p:sp>
        <p:nvSpPr>
          <p:cNvPr id="43" name="Text 41"/>
          <p:cNvSpPr/>
          <p:nvPr/>
        </p:nvSpPr>
        <p:spPr>
          <a:xfrm>
            <a:off x="6355080" y="5440680"/>
            <a:ext cx="2651760" cy="502920"/>
          </a:xfrm>
          <a:prstGeom prst="rect">
            <a:avLst/>
          </a:prstGeom>
          <a:noFill/>
          <a:ln/>
        </p:spPr>
        <p:txBody>
          <a:bodyPr wrap="square" lIns="0" tIns="0" rIns="0" bIns="0" rtlCol="0" anchor="ctr"/>
          <a:lstStyle/>
          <a:p>
            <a:pPr indent="0" marL="0">
              <a:buNone/>
            </a:pPr>
            <a:r>
              <a:rPr lang="en-US" sz="3000" b="1" dirty="0">
                <a:solidFill>
                  <a:srgbClr val="C1272D"/>
                </a:solidFill>
                <a:latin typeface="Cambria" pitchFamily="34" charset="0"/>
                <a:ea typeface="Cambria" pitchFamily="34" charset="-122"/>
                <a:cs typeface="Cambria" pitchFamily="34" charset="-120"/>
              </a:rPr>
              <a:t>10,000</a:t>
            </a:r>
            <a:endParaRPr lang="en-US" sz="3000" dirty="0"/>
          </a:p>
        </p:txBody>
      </p:sp>
      <p:sp>
        <p:nvSpPr>
          <p:cNvPr id="44" name="Text 42"/>
          <p:cNvSpPr/>
          <p:nvPr/>
        </p:nvSpPr>
        <p:spPr>
          <a:xfrm>
            <a:off x="6355080" y="5943600"/>
            <a:ext cx="2651760" cy="310896"/>
          </a:xfrm>
          <a:prstGeom prst="rect">
            <a:avLst/>
          </a:prstGeom>
          <a:noFill/>
          <a:ln/>
        </p:spPr>
        <p:txBody>
          <a:bodyPr wrap="square" lIns="0" tIns="0" rIns="0" bIns="0" rtlCol="0" anchor="ctr"/>
          <a:lstStyle/>
          <a:p>
            <a:pPr indent="0" marL="0">
              <a:buNone/>
            </a:pPr>
            <a:r>
              <a:rPr lang="en-US" sz="1150" dirty="0">
                <a:solidFill>
                  <a:srgbClr val="5A6672"/>
                </a:solidFill>
                <a:latin typeface="Calibri" pitchFamily="34" charset="0"/>
                <a:ea typeface="Calibri" pitchFamily="34" charset="-122"/>
                <a:cs typeface="Calibri" pitchFamily="34" charset="-120"/>
              </a:rPr>
              <a:t>statistical tests</a:t>
            </a:r>
            <a:endParaRPr lang="en-US" sz="1150" dirty="0"/>
          </a:p>
        </p:txBody>
      </p:sp>
      <p:sp>
        <p:nvSpPr>
          <p:cNvPr id="45" name="Text 43"/>
          <p:cNvSpPr/>
          <p:nvPr/>
        </p:nvSpPr>
        <p:spPr>
          <a:xfrm>
            <a:off x="9189720" y="5440680"/>
            <a:ext cx="2651760" cy="502920"/>
          </a:xfrm>
          <a:prstGeom prst="rect">
            <a:avLst/>
          </a:prstGeom>
          <a:noFill/>
          <a:ln/>
        </p:spPr>
        <p:txBody>
          <a:bodyPr wrap="square" lIns="0" tIns="0" rIns="0" bIns="0" rtlCol="0" anchor="ctr"/>
          <a:lstStyle/>
          <a:p>
            <a:pPr indent="0" marL="0">
              <a:buNone/>
            </a:pPr>
            <a:r>
              <a:rPr lang="en-US" sz="3000" b="1" dirty="0">
                <a:solidFill>
                  <a:srgbClr val="10243A"/>
                </a:solidFill>
                <a:latin typeface="Cambria" pitchFamily="34" charset="0"/>
                <a:ea typeface="Cambria" pitchFamily="34" charset="-122"/>
                <a:cs typeface="Cambria" pitchFamily="34" charset="-120"/>
              </a:rPr>
              <a:t>0.0127</a:t>
            </a:r>
            <a:endParaRPr lang="en-US" sz="3000" dirty="0"/>
          </a:p>
        </p:txBody>
      </p:sp>
      <p:sp>
        <p:nvSpPr>
          <p:cNvPr id="46" name="Text 44"/>
          <p:cNvSpPr/>
          <p:nvPr/>
        </p:nvSpPr>
        <p:spPr>
          <a:xfrm>
            <a:off x="9189720" y="5943600"/>
            <a:ext cx="2651760" cy="310896"/>
          </a:xfrm>
          <a:prstGeom prst="rect">
            <a:avLst/>
          </a:prstGeom>
          <a:noFill/>
          <a:ln/>
        </p:spPr>
        <p:txBody>
          <a:bodyPr wrap="square" lIns="0" tIns="0" rIns="0" bIns="0" rtlCol="0" anchor="ctr"/>
          <a:lstStyle/>
          <a:p>
            <a:pPr indent="0" marL="0">
              <a:buNone/>
            </a:pPr>
            <a:r>
              <a:rPr lang="en-US" sz="1150" dirty="0">
                <a:solidFill>
                  <a:srgbClr val="5A6672"/>
                </a:solidFill>
                <a:latin typeface="Calibri" pitchFamily="34" charset="0"/>
                <a:ea typeface="Calibri" pitchFamily="34" charset="-122"/>
                <a:cs typeface="Calibri" pitchFamily="34" charset="-120"/>
              </a:rPr>
              <a:t>p-value: 1 in 79 by chance</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548640" y="310896"/>
            <a:ext cx="11064240" cy="566928"/>
          </a:xfrm>
          <a:prstGeom prst="rect">
            <a:avLst/>
          </a:prstGeom>
          <a:noFill/>
          <a:ln/>
        </p:spPr>
        <p:txBody>
          <a:bodyPr wrap="square" lIns="0" tIns="0" rIns="0" bIns="0" rtlCol="0" anchor="ctr"/>
          <a:lstStyle/>
          <a:p>
            <a:pPr indent="0" marL="0">
              <a:buNone/>
            </a:pPr>
            <a:r>
              <a:rPr lang="en-US" sz="3200" b="1" dirty="0">
                <a:solidFill>
                  <a:srgbClr val="10243A"/>
                </a:solidFill>
                <a:latin typeface="Cambria" pitchFamily="34" charset="0"/>
                <a:ea typeface="Cambria" pitchFamily="34" charset="-122"/>
                <a:cs typeface="Cambria" pitchFamily="34" charset="-120"/>
              </a:rPr>
              <a:t>Seeing the DNA itself</a:t>
            </a:r>
            <a:endParaRPr lang="en-US" sz="3200" dirty="0"/>
          </a:p>
        </p:txBody>
      </p:sp>
      <p:sp>
        <p:nvSpPr>
          <p:cNvPr id="3" name="Text 1"/>
          <p:cNvSpPr/>
          <p:nvPr/>
        </p:nvSpPr>
        <p:spPr>
          <a:xfrm>
            <a:off x="566928" y="896112"/>
            <a:ext cx="11064240" cy="310896"/>
          </a:xfrm>
          <a:prstGeom prst="rect">
            <a:avLst/>
          </a:prstGeom>
          <a:noFill/>
          <a:ln/>
        </p:spPr>
        <p:txBody>
          <a:bodyPr wrap="square" lIns="0" tIns="0" rIns="0" bIns="0" rtlCol="0" anchor="ctr"/>
          <a:lstStyle/>
          <a:p>
            <a:pPr indent="0" marL="0">
              <a:buNone/>
            </a:pPr>
            <a:r>
              <a:rPr lang="en-US" sz="1400" dirty="0">
                <a:solidFill>
                  <a:srgbClr val="5A6672"/>
                </a:solidFill>
                <a:latin typeface="Calibri" pitchFamily="34" charset="0"/>
                <a:ea typeface="Calibri" pitchFamily="34" charset="-122"/>
                <a:cs typeface="Calibri" pitchFamily="34" charset="-120"/>
              </a:rPr>
              <a:t>We drew the real DNA of the prestin gene, using the true shape and measurements of a DNA molecule.</a:t>
            </a:r>
            <a:endParaRPr lang="en-US" sz="1400" dirty="0"/>
          </a:p>
        </p:txBody>
      </p:sp>
      <p:sp>
        <p:nvSpPr>
          <p:cNvPr id="4" name="Shape 2"/>
          <p:cNvSpPr/>
          <p:nvPr/>
        </p:nvSpPr>
        <p:spPr>
          <a:xfrm>
            <a:off x="566928" y="1325880"/>
            <a:ext cx="8732520" cy="5038344"/>
          </a:xfrm>
          <a:prstGeom prst="roundRect">
            <a:avLst>
              <a:gd name="adj" fmla="val 1452"/>
            </a:avLst>
          </a:prstGeom>
          <a:solidFill>
            <a:srgbClr val="FFFFFF"/>
          </a:solidFill>
          <a:ln/>
          <a:effectLst>
            <a:outerShdw sx="100000" sy="100000" kx="0" ky="0" algn="bl" rotWithShape="0" blurRad="127000" dist="19050" dir="5400000">
              <a:srgbClr val="9BA9B8">
                <a:alpha val="30000"/>
              </a:srgbClr>
            </a:outerShdw>
          </a:effectLst>
        </p:spPr>
      </p:sp>
      <p:pic>
        <p:nvPicPr>
          <p:cNvPr id="5" name="Image 0" descr="C:\Users\varad\AppData\Local\Temp\claude\C--Users-varad-OneDrive-Desktop-final-bio\5a01b15e-87b4-4afb-9bbf-d8d6ec6e1673\scratchpad\assets\dna.png">    </p:cNvPr>
          <p:cNvPicPr>
            <a:picLocks noChangeAspect="1"/>
          </p:cNvPicPr>
          <p:nvPr/>
        </p:nvPicPr>
        <p:blipFill>
          <a:blip r:embed="rId1"/>
          <a:stretch>
            <a:fillRect/>
          </a:stretch>
        </p:blipFill>
        <p:spPr>
          <a:xfrm>
            <a:off x="658368" y="1417320"/>
            <a:ext cx="8549640" cy="4855464"/>
          </a:xfrm>
          <a:prstGeom prst="rect">
            <a:avLst/>
          </a:prstGeom>
        </p:spPr>
      </p:pic>
      <p:sp>
        <p:nvSpPr>
          <p:cNvPr id="6" name="Shape 3"/>
          <p:cNvSpPr/>
          <p:nvPr/>
        </p:nvSpPr>
        <p:spPr>
          <a:xfrm>
            <a:off x="9464040" y="1481328"/>
            <a:ext cx="2194560" cy="1481328"/>
          </a:xfrm>
          <a:prstGeom prst="roundRect">
            <a:avLst>
              <a:gd name="adj" fmla="val 6173"/>
            </a:avLst>
          </a:prstGeom>
          <a:solidFill>
            <a:srgbClr val="FFFFFF"/>
          </a:solidFill>
          <a:ln/>
          <a:effectLst>
            <a:outerShdw sx="100000" sy="100000" kx="0" ky="0" algn="bl" rotWithShape="0" blurRad="127000" dist="19050" dir="5400000">
              <a:srgbClr val="9BA9B8">
                <a:alpha val="28000"/>
              </a:srgbClr>
            </a:outerShdw>
          </a:effectLst>
        </p:spPr>
      </p:sp>
      <p:sp>
        <p:nvSpPr>
          <p:cNvPr id="7" name="Text 4"/>
          <p:cNvSpPr/>
          <p:nvPr/>
        </p:nvSpPr>
        <p:spPr>
          <a:xfrm>
            <a:off x="9646920" y="1609344"/>
            <a:ext cx="1874520" cy="310896"/>
          </a:xfrm>
          <a:prstGeom prst="rect">
            <a:avLst/>
          </a:prstGeom>
          <a:noFill/>
          <a:ln/>
        </p:spPr>
        <p:txBody>
          <a:bodyPr wrap="square" lIns="0" tIns="0" rIns="0" bIns="0" rtlCol="0" anchor="t"/>
          <a:lstStyle/>
          <a:p>
            <a:pPr indent="0" marL="0">
              <a:buNone/>
            </a:pPr>
            <a:r>
              <a:rPr lang="en-US" sz="1250" b="1" dirty="0">
                <a:solidFill>
                  <a:srgbClr val="2E7DD1"/>
                </a:solidFill>
                <a:latin typeface="Cambria" pitchFamily="34" charset="0"/>
                <a:ea typeface="Cambria" pitchFamily="34" charset="-122"/>
                <a:cs typeface="Cambria" pitchFamily="34" charset="-120"/>
              </a:rPr>
              <a:t>A · The double helix</a:t>
            </a:r>
            <a:endParaRPr lang="en-US" sz="1250" dirty="0"/>
          </a:p>
        </p:txBody>
      </p:sp>
      <p:sp>
        <p:nvSpPr>
          <p:cNvPr id="8" name="Text 5"/>
          <p:cNvSpPr/>
          <p:nvPr/>
        </p:nvSpPr>
        <p:spPr>
          <a:xfrm>
            <a:off x="9646920" y="1901952"/>
            <a:ext cx="1847088" cy="1005840"/>
          </a:xfrm>
          <a:prstGeom prst="rect">
            <a:avLst/>
          </a:prstGeom>
          <a:noFill/>
          <a:ln/>
        </p:spPr>
        <p:txBody>
          <a:bodyPr wrap="square" lIns="0" tIns="0" rIns="0" bIns="0" rtlCol="0" anchor="t"/>
          <a:lstStyle/>
          <a:p>
            <a:pPr indent="0" marL="0">
              <a:lnSpc>
                <a:spcPts val="1250"/>
              </a:lnSpc>
              <a:buNone/>
            </a:pPr>
            <a:r>
              <a:rPr lang="en-US" sz="950" dirty="0">
                <a:solidFill>
                  <a:srgbClr val="1B2733"/>
                </a:solidFill>
                <a:latin typeface="Calibri" pitchFamily="34" charset="0"/>
                <a:ea typeface="Calibri" pitchFamily="34" charset="-122"/>
                <a:cs typeface="Calibri" pitchFamily="34" charset="-120"/>
              </a:rPr>
              <a:t>Drawn with the real measurements of DNA. The two strands are not exactly opposite each other, which is what makes the wide and narrow grooves.</a:t>
            </a:r>
            <a:endParaRPr lang="en-US" sz="950" dirty="0"/>
          </a:p>
        </p:txBody>
      </p:sp>
      <p:sp>
        <p:nvSpPr>
          <p:cNvPr id="9" name="Shape 6"/>
          <p:cNvSpPr/>
          <p:nvPr/>
        </p:nvSpPr>
        <p:spPr>
          <a:xfrm>
            <a:off x="9464040" y="3108960"/>
            <a:ext cx="2194560" cy="1481328"/>
          </a:xfrm>
          <a:prstGeom prst="roundRect">
            <a:avLst>
              <a:gd name="adj" fmla="val 6173"/>
            </a:avLst>
          </a:prstGeom>
          <a:solidFill>
            <a:srgbClr val="FFFFFF"/>
          </a:solidFill>
          <a:ln/>
          <a:effectLst>
            <a:outerShdw sx="100000" sy="100000" kx="0" ky="0" algn="bl" rotWithShape="0" blurRad="127000" dist="19050" dir="5400000">
              <a:srgbClr val="9BA9B8">
                <a:alpha val="28000"/>
              </a:srgbClr>
            </a:outerShdw>
          </a:effectLst>
        </p:spPr>
      </p:sp>
      <p:sp>
        <p:nvSpPr>
          <p:cNvPr id="10" name="Text 7"/>
          <p:cNvSpPr/>
          <p:nvPr/>
        </p:nvSpPr>
        <p:spPr>
          <a:xfrm>
            <a:off x="9646920" y="3236976"/>
            <a:ext cx="1874520" cy="310896"/>
          </a:xfrm>
          <a:prstGeom prst="rect">
            <a:avLst/>
          </a:prstGeom>
          <a:noFill/>
          <a:ln/>
        </p:spPr>
        <p:txBody>
          <a:bodyPr wrap="square" lIns="0" tIns="0" rIns="0" bIns="0" rtlCol="0" anchor="t"/>
          <a:lstStyle/>
          <a:p>
            <a:pPr indent="0" marL="0">
              <a:buNone/>
            </a:pPr>
            <a:r>
              <a:rPr lang="en-US" sz="1250" b="1" dirty="0">
                <a:solidFill>
                  <a:srgbClr val="F0A202"/>
                </a:solidFill>
                <a:latin typeface="Cambria" pitchFamily="34" charset="0"/>
                <a:ea typeface="Cambria" pitchFamily="34" charset="-122"/>
                <a:cs typeface="Cambria" pitchFamily="34" charset="-120"/>
              </a:rPr>
              <a:t>B · The letters</a:t>
            </a:r>
            <a:endParaRPr lang="en-US" sz="1250" dirty="0"/>
          </a:p>
        </p:txBody>
      </p:sp>
      <p:sp>
        <p:nvSpPr>
          <p:cNvPr id="11" name="Text 8"/>
          <p:cNvSpPr/>
          <p:nvPr/>
        </p:nvSpPr>
        <p:spPr>
          <a:xfrm>
            <a:off x="9646920" y="3529584"/>
            <a:ext cx="1847088" cy="1005840"/>
          </a:xfrm>
          <a:prstGeom prst="rect">
            <a:avLst/>
          </a:prstGeom>
          <a:noFill/>
          <a:ln/>
        </p:spPr>
        <p:txBody>
          <a:bodyPr wrap="square" lIns="0" tIns="0" rIns="0" bIns="0" rtlCol="0" anchor="t"/>
          <a:lstStyle/>
          <a:p>
            <a:pPr indent="0" marL="0">
              <a:lnSpc>
                <a:spcPts val="1250"/>
              </a:lnSpc>
              <a:buNone/>
            </a:pPr>
            <a:r>
              <a:rPr lang="en-US" sz="950" dirty="0">
                <a:solidFill>
                  <a:srgbClr val="1B2733"/>
                </a:solidFill>
                <a:latin typeface="Calibri" pitchFamily="34" charset="0"/>
                <a:ea typeface="Calibri" pitchFamily="34" charset="-122"/>
                <a:cs typeface="Calibri" pitchFamily="34" charset="-120"/>
              </a:rPr>
              <a:t>A always pairs with T, and G always pairs with C. G–C pairs are held by three bonds, A–T by only two.</a:t>
            </a:r>
            <a:endParaRPr lang="en-US" sz="950" dirty="0"/>
          </a:p>
        </p:txBody>
      </p:sp>
      <p:sp>
        <p:nvSpPr>
          <p:cNvPr id="12" name="Shape 9"/>
          <p:cNvSpPr/>
          <p:nvPr/>
        </p:nvSpPr>
        <p:spPr>
          <a:xfrm>
            <a:off x="9464040" y="4736592"/>
            <a:ext cx="2194560" cy="1481328"/>
          </a:xfrm>
          <a:prstGeom prst="roundRect">
            <a:avLst>
              <a:gd name="adj" fmla="val 6173"/>
            </a:avLst>
          </a:prstGeom>
          <a:solidFill>
            <a:srgbClr val="FFFFFF"/>
          </a:solidFill>
          <a:ln/>
          <a:effectLst>
            <a:outerShdw sx="100000" sy="100000" kx="0" ky="0" algn="bl" rotWithShape="0" blurRad="127000" dist="19050" dir="5400000">
              <a:srgbClr val="9BA9B8">
                <a:alpha val="28000"/>
              </a:srgbClr>
            </a:outerShdw>
          </a:effectLst>
        </p:spPr>
      </p:sp>
      <p:sp>
        <p:nvSpPr>
          <p:cNvPr id="13" name="Text 10"/>
          <p:cNvSpPr/>
          <p:nvPr/>
        </p:nvSpPr>
        <p:spPr>
          <a:xfrm>
            <a:off x="9646920" y="4864608"/>
            <a:ext cx="1874520" cy="310896"/>
          </a:xfrm>
          <a:prstGeom prst="rect">
            <a:avLst/>
          </a:prstGeom>
          <a:noFill/>
          <a:ln/>
        </p:spPr>
        <p:txBody>
          <a:bodyPr wrap="square" lIns="0" tIns="0" rIns="0" bIns="0" rtlCol="0" anchor="t"/>
          <a:lstStyle/>
          <a:p>
            <a:pPr indent="0" marL="0">
              <a:buNone/>
            </a:pPr>
            <a:r>
              <a:rPr lang="en-US" sz="1250" b="1" dirty="0">
                <a:solidFill>
                  <a:srgbClr val="C1272D"/>
                </a:solidFill>
                <a:latin typeface="Cambria" pitchFamily="34" charset="0"/>
                <a:ea typeface="Cambria" pitchFamily="34" charset="-122"/>
                <a:cs typeface="Cambria" pitchFamily="34" charset="-120"/>
              </a:rPr>
              <a:t>C · The answer</a:t>
            </a:r>
            <a:endParaRPr lang="en-US" sz="1250" dirty="0"/>
          </a:p>
        </p:txBody>
      </p:sp>
      <p:sp>
        <p:nvSpPr>
          <p:cNvPr id="14" name="Text 11"/>
          <p:cNvSpPr/>
          <p:nvPr/>
        </p:nvSpPr>
        <p:spPr>
          <a:xfrm>
            <a:off x="9646920" y="5157216"/>
            <a:ext cx="1847088" cy="1005840"/>
          </a:xfrm>
          <a:prstGeom prst="rect">
            <a:avLst/>
          </a:prstGeom>
          <a:noFill/>
          <a:ln/>
        </p:spPr>
        <p:txBody>
          <a:bodyPr wrap="square" lIns="0" tIns="0" rIns="0" bIns="0" rtlCol="0" anchor="t"/>
          <a:lstStyle/>
          <a:p>
            <a:pPr indent="0" marL="0">
              <a:lnSpc>
                <a:spcPts val="1250"/>
              </a:lnSpc>
              <a:buNone/>
            </a:pPr>
            <a:r>
              <a:rPr lang="en-US" sz="950" dirty="0">
                <a:solidFill>
                  <a:srgbClr val="1B2733"/>
                </a:solidFill>
                <a:latin typeface="Calibri" pitchFamily="34" charset="0"/>
                <a:ea typeface="Calibri" pitchFamily="34" charset="-122"/>
                <a:cs typeface="Calibri" pitchFamily="34" charset="-120"/>
              </a:rPr>
              <a:t>All four echo-hunters read GCA here. All six other animals read TCA or TCG. One letter is different.</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548640" y="310896"/>
            <a:ext cx="11064240" cy="566928"/>
          </a:xfrm>
          <a:prstGeom prst="rect">
            <a:avLst/>
          </a:prstGeom>
          <a:noFill/>
          <a:ln/>
        </p:spPr>
        <p:txBody>
          <a:bodyPr wrap="square" lIns="0" tIns="0" rIns="0" bIns="0" rtlCol="0" anchor="ctr"/>
          <a:lstStyle/>
          <a:p>
            <a:pPr indent="0" marL="0">
              <a:buNone/>
            </a:pPr>
            <a:r>
              <a:rPr lang="en-US" sz="3200" b="1" dirty="0">
                <a:solidFill>
                  <a:srgbClr val="10243A"/>
                </a:solidFill>
                <a:latin typeface="Cambria" pitchFamily="34" charset="0"/>
                <a:ea typeface="Cambria" pitchFamily="34" charset="-122"/>
                <a:cs typeface="Cambria" pitchFamily="34" charset="-120"/>
              </a:rPr>
              <a:t>Result 1: two special spots in the gene</a:t>
            </a:r>
            <a:endParaRPr lang="en-US" sz="3200" dirty="0"/>
          </a:p>
        </p:txBody>
      </p:sp>
      <p:sp>
        <p:nvSpPr>
          <p:cNvPr id="3" name="Text 1"/>
          <p:cNvSpPr/>
          <p:nvPr/>
        </p:nvSpPr>
        <p:spPr>
          <a:xfrm>
            <a:off x="566928" y="896112"/>
            <a:ext cx="11064240" cy="310896"/>
          </a:xfrm>
          <a:prstGeom prst="rect">
            <a:avLst/>
          </a:prstGeom>
          <a:noFill/>
          <a:ln/>
        </p:spPr>
        <p:txBody>
          <a:bodyPr wrap="square" lIns="0" tIns="0" rIns="0" bIns="0" rtlCol="0" anchor="ctr"/>
          <a:lstStyle/>
          <a:p>
            <a:pPr indent="0" marL="0">
              <a:buNone/>
            </a:pPr>
            <a:r>
              <a:rPr lang="en-US" sz="1400" dirty="0">
                <a:solidFill>
                  <a:srgbClr val="5A6672"/>
                </a:solidFill>
                <a:latin typeface="Calibri" pitchFamily="34" charset="0"/>
                <a:ea typeface="Calibri" pitchFamily="34" charset="-122"/>
                <a:cs typeface="Calibri" pitchFamily="34" charset="-120"/>
              </a:rPr>
              <a:t>We scored all 744 positions, then tested whether the result could have happened by chance.</a:t>
            </a:r>
            <a:endParaRPr lang="en-US" sz="1400" dirty="0"/>
          </a:p>
        </p:txBody>
      </p:sp>
      <p:sp>
        <p:nvSpPr>
          <p:cNvPr id="4" name="Shape 2"/>
          <p:cNvSpPr/>
          <p:nvPr/>
        </p:nvSpPr>
        <p:spPr>
          <a:xfrm>
            <a:off x="566928" y="1298448"/>
            <a:ext cx="7955280" cy="4681728"/>
          </a:xfrm>
          <a:prstGeom prst="roundRect">
            <a:avLst>
              <a:gd name="adj" fmla="val 1563"/>
            </a:avLst>
          </a:prstGeom>
          <a:solidFill>
            <a:srgbClr val="FFFFFF"/>
          </a:solidFill>
          <a:ln/>
          <a:effectLst>
            <a:outerShdw sx="100000" sy="100000" kx="0" ky="0" algn="bl" rotWithShape="0" blurRad="127000" dist="19050" dir="5400000">
              <a:srgbClr val="9BA9B8">
                <a:alpha val="30000"/>
              </a:srgbClr>
            </a:outerShdw>
          </a:effectLst>
        </p:spPr>
      </p:sp>
      <p:pic>
        <p:nvPicPr>
          <p:cNvPr id="5" name="Image 0" descr="C:\Users\varad\AppData\Local\Temp\claude\C--Users-varad-OneDrive-Desktop-final-bio\5a01b15e-87b4-4afb-9bbf-d8d6ec6e1673\scratchpad\assets\scan.png">    </p:cNvPr>
          <p:cNvPicPr>
            <a:picLocks noChangeAspect="1"/>
          </p:cNvPicPr>
          <p:nvPr/>
        </p:nvPicPr>
        <p:blipFill>
          <a:blip r:embed="rId1"/>
          <a:stretch>
            <a:fillRect/>
          </a:stretch>
        </p:blipFill>
        <p:spPr>
          <a:xfrm>
            <a:off x="658368" y="1389888"/>
            <a:ext cx="7772400" cy="4498848"/>
          </a:xfrm>
          <a:prstGeom prst="rect">
            <a:avLst/>
          </a:prstGeom>
        </p:spPr>
      </p:pic>
      <p:sp>
        <p:nvSpPr>
          <p:cNvPr id="6" name="Shape 3"/>
          <p:cNvSpPr/>
          <p:nvPr/>
        </p:nvSpPr>
        <p:spPr>
          <a:xfrm>
            <a:off x="8686800" y="1417320"/>
            <a:ext cx="2971800" cy="932688"/>
          </a:xfrm>
          <a:prstGeom prst="roundRect">
            <a:avLst>
              <a:gd name="adj" fmla="val 9804"/>
            </a:avLst>
          </a:prstGeom>
          <a:solidFill>
            <a:srgbClr val="FFFFFF"/>
          </a:solidFill>
          <a:ln/>
          <a:effectLst>
            <a:outerShdw sx="100000" sy="100000" kx="0" ky="0" algn="bl" rotWithShape="0" blurRad="127000" dist="19050" dir="5400000">
              <a:srgbClr val="9BA9B8">
                <a:alpha val="28000"/>
              </a:srgbClr>
            </a:outerShdw>
          </a:effectLst>
        </p:spPr>
      </p:sp>
      <p:sp>
        <p:nvSpPr>
          <p:cNvPr id="7" name="Text 4"/>
          <p:cNvSpPr/>
          <p:nvPr/>
        </p:nvSpPr>
        <p:spPr>
          <a:xfrm>
            <a:off x="8915400" y="1490472"/>
            <a:ext cx="2560320" cy="402336"/>
          </a:xfrm>
          <a:prstGeom prst="rect">
            <a:avLst/>
          </a:prstGeom>
          <a:noFill/>
          <a:ln/>
        </p:spPr>
        <p:txBody>
          <a:bodyPr wrap="square" lIns="0" tIns="0" rIns="0" bIns="0" rtlCol="0" anchor="ctr"/>
          <a:lstStyle/>
          <a:p>
            <a:pPr indent="0" marL="0">
              <a:buNone/>
            </a:pPr>
            <a:r>
              <a:rPr lang="en-US" sz="2400" b="1" dirty="0">
                <a:solidFill>
                  <a:srgbClr val="C1272D"/>
                </a:solidFill>
                <a:latin typeface="Cambria" pitchFamily="34" charset="0"/>
                <a:ea typeface="Cambria" pitchFamily="34" charset="-122"/>
                <a:cs typeface="Cambria" pitchFamily="34" charset="-120"/>
              </a:rPr>
              <a:t>2</a:t>
            </a:r>
            <a:endParaRPr lang="en-US" sz="2400" dirty="0"/>
          </a:p>
        </p:txBody>
      </p:sp>
      <p:sp>
        <p:nvSpPr>
          <p:cNvPr id="8" name="Text 5"/>
          <p:cNvSpPr/>
          <p:nvPr/>
        </p:nvSpPr>
        <p:spPr>
          <a:xfrm>
            <a:off x="8933688" y="1911096"/>
            <a:ext cx="2606040" cy="411480"/>
          </a:xfrm>
          <a:prstGeom prst="rect">
            <a:avLst/>
          </a:prstGeom>
          <a:noFill/>
          <a:ln/>
        </p:spPr>
        <p:txBody>
          <a:bodyPr wrap="square" lIns="0" tIns="0" rIns="0" bIns="0" rtlCol="0" anchor="t"/>
          <a:lstStyle/>
          <a:p>
            <a:pPr indent="0" marL="0">
              <a:lnSpc>
                <a:spcPts val="1200"/>
              </a:lnSpc>
              <a:buNone/>
            </a:pPr>
            <a:r>
              <a:rPr lang="en-US" sz="980" dirty="0">
                <a:solidFill>
                  <a:srgbClr val="5A6672"/>
                </a:solidFill>
                <a:latin typeface="Calibri" pitchFamily="34" charset="0"/>
                <a:ea typeface="Calibri" pitchFamily="34" charset="-122"/>
                <a:cs typeface="Calibri" pitchFamily="34" charset="-120"/>
              </a:rPr>
              <a:t>spots where all echo-hunters</a:t>
            </a:r>
            <a:endParaRPr lang="en-US" sz="980" dirty="0"/>
          </a:p>
          <a:p>
            <a:pPr indent="0" marL="0">
              <a:lnSpc>
                <a:spcPts val="1200"/>
              </a:lnSpc>
              <a:buNone/>
            </a:pPr>
            <a:r>
              <a:rPr lang="en-US" sz="980" dirty="0">
                <a:solidFill>
                  <a:srgbClr val="5A6672"/>
                </a:solidFill>
                <a:latin typeface="Calibri" pitchFamily="34" charset="0"/>
                <a:ea typeface="Calibri" pitchFamily="34" charset="-122"/>
                <a:cs typeface="Calibri" pitchFamily="34" charset="-120"/>
              </a:rPr>
              <a:t>match and no one else does</a:t>
            </a:r>
            <a:endParaRPr lang="en-US" sz="980" dirty="0"/>
          </a:p>
        </p:txBody>
      </p:sp>
      <p:sp>
        <p:nvSpPr>
          <p:cNvPr id="9" name="Shape 6"/>
          <p:cNvSpPr/>
          <p:nvPr/>
        </p:nvSpPr>
        <p:spPr>
          <a:xfrm>
            <a:off x="8686800" y="2468880"/>
            <a:ext cx="2971800" cy="932688"/>
          </a:xfrm>
          <a:prstGeom prst="roundRect">
            <a:avLst>
              <a:gd name="adj" fmla="val 9804"/>
            </a:avLst>
          </a:prstGeom>
          <a:solidFill>
            <a:srgbClr val="FFFFFF"/>
          </a:solidFill>
          <a:ln/>
          <a:effectLst>
            <a:outerShdw sx="100000" sy="100000" kx="0" ky="0" algn="bl" rotWithShape="0" blurRad="127000" dist="19050" dir="5400000">
              <a:srgbClr val="9BA9B8">
                <a:alpha val="28000"/>
              </a:srgbClr>
            </a:outerShdw>
          </a:effectLst>
        </p:spPr>
      </p:sp>
      <p:sp>
        <p:nvSpPr>
          <p:cNvPr id="10" name="Text 7"/>
          <p:cNvSpPr/>
          <p:nvPr/>
        </p:nvSpPr>
        <p:spPr>
          <a:xfrm>
            <a:off x="8915400" y="2542032"/>
            <a:ext cx="2560320" cy="402336"/>
          </a:xfrm>
          <a:prstGeom prst="rect">
            <a:avLst/>
          </a:prstGeom>
          <a:noFill/>
          <a:ln/>
        </p:spPr>
        <p:txBody>
          <a:bodyPr wrap="square" lIns="0" tIns="0" rIns="0" bIns="0" rtlCol="0" anchor="ctr"/>
          <a:lstStyle/>
          <a:p>
            <a:pPr indent="0" marL="0">
              <a:buNone/>
            </a:pPr>
            <a:r>
              <a:rPr lang="en-US" sz="2400" b="1" dirty="0">
                <a:solidFill>
                  <a:srgbClr val="10243A"/>
                </a:solidFill>
                <a:latin typeface="Cambria" pitchFamily="34" charset="0"/>
                <a:ea typeface="Cambria" pitchFamily="34" charset="-122"/>
                <a:cs typeface="Cambria" pitchFamily="34" charset="-120"/>
              </a:rPr>
              <a:t>0.0127</a:t>
            </a:r>
            <a:endParaRPr lang="en-US" sz="2400" dirty="0"/>
          </a:p>
        </p:txBody>
      </p:sp>
      <p:sp>
        <p:nvSpPr>
          <p:cNvPr id="11" name="Text 8"/>
          <p:cNvSpPr/>
          <p:nvPr/>
        </p:nvSpPr>
        <p:spPr>
          <a:xfrm>
            <a:off x="8933688" y="2962656"/>
            <a:ext cx="2606040" cy="411480"/>
          </a:xfrm>
          <a:prstGeom prst="rect">
            <a:avLst/>
          </a:prstGeom>
          <a:noFill/>
          <a:ln/>
        </p:spPr>
        <p:txBody>
          <a:bodyPr wrap="square" lIns="0" tIns="0" rIns="0" bIns="0" rtlCol="0" anchor="t"/>
          <a:lstStyle/>
          <a:p>
            <a:pPr indent="0" marL="0">
              <a:lnSpc>
                <a:spcPts val="1200"/>
              </a:lnSpc>
              <a:buNone/>
            </a:pPr>
            <a:r>
              <a:rPr lang="en-US" sz="980" dirty="0">
                <a:solidFill>
                  <a:srgbClr val="5A6672"/>
                </a:solidFill>
                <a:latin typeface="Calibri" pitchFamily="34" charset="0"/>
                <a:ea typeface="Calibri" pitchFamily="34" charset="-122"/>
                <a:cs typeface="Calibri" pitchFamily="34" charset="-120"/>
              </a:rPr>
              <a:t>probability of this by chance</a:t>
            </a:r>
            <a:endParaRPr lang="en-US" sz="980" dirty="0"/>
          </a:p>
          <a:p>
            <a:pPr indent="0" marL="0">
              <a:lnSpc>
                <a:spcPts val="1200"/>
              </a:lnSpc>
              <a:buNone/>
            </a:pPr>
            <a:r>
              <a:rPr lang="en-US" sz="980" dirty="0">
                <a:solidFill>
                  <a:srgbClr val="5A6672"/>
                </a:solidFill>
                <a:latin typeface="Calibri" pitchFamily="34" charset="0"/>
                <a:ea typeface="Calibri" pitchFamily="34" charset="-122"/>
                <a:cs typeface="Calibri" pitchFamily="34" charset="-120"/>
              </a:rPr>
              <a:t>(about 1 in 79)</a:t>
            </a:r>
            <a:endParaRPr lang="en-US" sz="980" dirty="0"/>
          </a:p>
        </p:txBody>
      </p:sp>
      <p:sp>
        <p:nvSpPr>
          <p:cNvPr id="12" name="Shape 9"/>
          <p:cNvSpPr/>
          <p:nvPr/>
        </p:nvSpPr>
        <p:spPr>
          <a:xfrm>
            <a:off x="8686800" y="3520440"/>
            <a:ext cx="2971800" cy="932688"/>
          </a:xfrm>
          <a:prstGeom prst="roundRect">
            <a:avLst>
              <a:gd name="adj" fmla="val 9804"/>
            </a:avLst>
          </a:prstGeom>
          <a:solidFill>
            <a:srgbClr val="FFFFFF"/>
          </a:solidFill>
          <a:ln/>
          <a:effectLst>
            <a:outerShdw sx="100000" sy="100000" kx="0" ky="0" algn="bl" rotWithShape="0" blurRad="127000" dist="19050" dir="5400000">
              <a:srgbClr val="9BA9B8">
                <a:alpha val="28000"/>
              </a:srgbClr>
            </a:outerShdw>
          </a:effectLst>
        </p:spPr>
      </p:sp>
      <p:sp>
        <p:nvSpPr>
          <p:cNvPr id="13" name="Text 10"/>
          <p:cNvSpPr/>
          <p:nvPr/>
        </p:nvSpPr>
        <p:spPr>
          <a:xfrm>
            <a:off x="8915400" y="3593592"/>
            <a:ext cx="2560320" cy="402336"/>
          </a:xfrm>
          <a:prstGeom prst="rect">
            <a:avLst/>
          </a:prstGeom>
          <a:noFill/>
          <a:ln/>
        </p:spPr>
        <p:txBody>
          <a:bodyPr wrap="square" lIns="0" tIns="0" rIns="0" bIns="0" rtlCol="0" anchor="ctr"/>
          <a:lstStyle/>
          <a:p>
            <a:pPr indent="0" marL="0">
              <a:buNone/>
            </a:pPr>
            <a:r>
              <a:rPr lang="en-US" sz="2400" b="1" dirty="0">
                <a:solidFill>
                  <a:srgbClr val="5A6672"/>
                </a:solidFill>
                <a:latin typeface="Cambria" pitchFamily="34" charset="0"/>
                <a:ea typeface="Cambria" pitchFamily="34" charset="-122"/>
                <a:cs typeface="Cambria" pitchFamily="34" charset="-120"/>
              </a:rPr>
              <a:t>0.06</a:t>
            </a:r>
            <a:endParaRPr lang="en-US" sz="2400" dirty="0"/>
          </a:p>
        </p:txBody>
      </p:sp>
      <p:sp>
        <p:nvSpPr>
          <p:cNvPr id="14" name="Text 11"/>
          <p:cNvSpPr/>
          <p:nvPr/>
        </p:nvSpPr>
        <p:spPr>
          <a:xfrm>
            <a:off x="8933688" y="4014216"/>
            <a:ext cx="2606040" cy="411480"/>
          </a:xfrm>
          <a:prstGeom prst="rect">
            <a:avLst/>
          </a:prstGeom>
          <a:noFill/>
          <a:ln/>
        </p:spPr>
        <p:txBody>
          <a:bodyPr wrap="square" lIns="0" tIns="0" rIns="0" bIns="0" rtlCol="0" anchor="t"/>
          <a:lstStyle/>
          <a:p>
            <a:pPr indent="0" marL="0">
              <a:lnSpc>
                <a:spcPts val="1200"/>
              </a:lnSpc>
              <a:buNone/>
            </a:pPr>
            <a:r>
              <a:rPr lang="en-US" sz="980" dirty="0">
                <a:solidFill>
                  <a:srgbClr val="5A6672"/>
                </a:solidFill>
                <a:latin typeface="Calibri" pitchFamily="34" charset="0"/>
                <a:ea typeface="Calibri" pitchFamily="34" charset="-122"/>
                <a:cs typeface="Calibri" pitchFamily="34" charset="-120"/>
              </a:rPr>
              <a:t>spots expected by chance alone</a:t>
            </a:r>
            <a:endParaRPr lang="en-US" sz="980" dirty="0"/>
          </a:p>
        </p:txBody>
      </p:sp>
      <p:sp>
        <p:nvSpPr>
          <p:cNvPr id="15" name="Shape 12"/>
          <p:cNvSpPr/>
          <p:nvPr/>
        </p:nvSpPr>
        <p:spPr>
          <a:xfrm>
            <a:off x="8686800" y="4572000"/>
            <a:ext cx="2971800" cy="1316736"/>
          </a:xfrm>
          <a:prstGeom prst="roundRect">
            <a:avLst>
              <a:gd name="adj" fmla="val 6944"/>
            </a:avLst>
          </a:prstGeom>
          <a:solidFill>
            <a:srgbClr val="10243A"/>
          </a:solidFill>
          <a:ln/>
          <a:effectLst>
            <a:outerShdw sx="100000" sy="100000" kx="0" ky="0" algn="bl" rotWithShape="0" blurRad="127000" dist="19050" dir="5400000">
              <a:srgbClr val="9BA9B8">
                <a:alpha val="28000"/>
              </a:srgbClr>
            </a:outerShdw>
          </a:effectLst>
        </p:spPr>
      </p:sp>
      <p:sp>
        <p:nvSpPr>
          <p:cNvPr id="16" name="Text 13"/>
          <p:cNvSpPr/>
          <p:nvPr/>
        </p:nvSpPr>
        <p:spPr>
          <a:xfrm>
            <a:off x="8915400" y="4700016"/>
            <a:ext cx="2560320" cy="310896"/>
          </a:xfrm>
          <a:prstGeom prst="rect">
            <a:avLst/>
          </a:prstGeom>
          <a:noFill/>
          <a:ln/>
        </p:spPr>
        <p:txBody>
          <a:bodyPr wrap="square" lIns="0" tIns="0" rIns="0" bIns="0" rtlCol="0" anchor="t"/>
          <a:lstStyle/>
          <a:p>
            <a:pPr indent="0" marL="0">
              <a:buNone/>
            </a:pPr>
            <a:r>
              <a:rPr lang="en-US" sz="1300" b="1" dirty="0">
                <a:solidFill>
                  <a:srgbClr val="F0A202"/>
                </a:solidFill>
                <a:latin typeface="Cambria" pitchFamily="34" charset="0"/>
                <a:ea typeface="Cambria" pitchFamily="34" charset="-122"/>
                <a:cs typeface="Cambria" pitchFamily="34" charset="-120"/>
              </a:rPr>
              <a:t>Where they are</a:t>
            </a:r>
            <a:endParaRPr lang="en-US" sz="1300" dirty="0"/>
          </a:p>
        </p:txBody>
      </p:sp>
      <p:sp>
        <p:nvSpPr>
          <p:cNvPr id="17" name="Text 14"/>
          <p:cNvSpPr/>
          <p:nvPr/>
        </p:nvSpPr>
        <p:spPr>
          <a:xfrm>
            <a:off x="8915400" y="4992624"/>
            <a:ext cx="2606040" cy="786384"/>
          </a:xfrm>
          <a:prstGeom prst="rect">
            <a:avLst/>
          </a:prstGeom>
          <a:noFill/>
          <a:ln/>
        </p:spPr>
        <p:txBody>
          <a:bodyPr wrap="square" lIns="0" tIns="0" rIns="0" bIns="0" rtlCol="0" anchor="t"/>
          <a:lstStyle/>
          <a:p>
            <a:pPr indent="0" marL="0">
              <a:lnSpc>
                <a:spcPts val="1500"/>
              </a:lnSpc>
              <a:buNone/>
            </a:pPr>
            <a:r>
              <a:rPr lang="en-US" sz="1050" b="1" dirty="0">
                <a:solidFill>
                  <a:srgbClr val="FFFFFF"/>
                </a:solidFill>
                <a:latin typeface="Calibri" pitchFamily="34" charset="0"/>
                <a:ea typeface="Calibri" pitchFamily="34" charset="-122"/>
                <a:cs typeface="Calibri" pitchFamily="34" charset="-120"/>
              </a:rPr>
              <a:t>Spot 392</a:t>
            </a:r>
            <a:pPr indent="0" marL="0">
              <a:lnSpc>
                <a:spcPts val="1500"/>
              </a:lnSpc>
              <a:buNone/>
            </a:pPr>
            <a:r>
              <a:rPr lang="en-US" sz="1050" dirty="0">
                <a:solidFill>
                  <a:srgbClr val="C6D4E4"/>
                </a:solidFill>
                <a:latin typeface="Calibri" pitchFamily="34" charset="0"/>
                <a:ea typeface="Calibri" pitchFamily="34" charset="-122"/>
                <a:cs typeface="Calibri" pitchFamily="34" charset="-120"/>
              </a:rPr>
              <a:t>  on the outside edge of the protein
</a:t>
            </a:r>
            <a:pPr indent="0" marL="0">
              <a:lnSpc>
                <a:spcPts val="1500"/>
              </a:lnSpc>
              <a:buNone/>
            </a:pPr>
            <a:r>
              <a:rPr lang="en-US" sz="1050" b="1" dirty="0">
                <a:solidFill>
                  <a:srgbClr val="FFFFFF"/>
                </a:solidFill>
                <a:latin typeface="Calibri" pitchFamily="34" charset="0"/>
                <a:ea typeface="Calibri" pitchFamily="34" charset="-122"/>
                <a:cs typeface="Calibri" pitchFamily="34" charset="-120"/>
              </a:rPr>
              <a:t>Spot 576</a:t>
            </a:r>
            <a:pPr indent="0" marL="0">
              <a:lnSpc>
                <a:spcPts val="1500"/>
              </a:lnSpc>
              <a:buNone/>
            </a:pPr>
            <a:r>
              <a:rPr lang="en-US" sz="1050" dirty="0">
                <a:solidFill>
                  <a:srgbClr val="C6D4E4"/>
                </a:solidFill>
                <a:latin typeface="Calibri" pitchFamily="34" charset="0"/>
                <a:ea typeface="Calibri" pitchFamily="34" charset="-122"/>
                <a:cs typeface="Calibri" pitchFamily="34" charset="-120"/>
              </a:rPr>
              <a:t>  on the part inside the cell</a:t>
            </a:r>
            <a:endParaRPr lang="en-US" sz="1050" dirty="0"/>
          </a:p>
        </p:txBody>
      </p:sp>
      <p:sp>
        <p:nvSpPr>
          <p:cNvPr id="18" name="Text 15"/>
          <p:cNvSpPr/>
          <p:nvPr/>
        </p:nvSpPr>
        <p:spPr>
          <a:xfrm>
            <a:off x="548640" y="6327648"/>
            <a:ext cx="11064240" cy="292608"/>
          </a:xfrm>
          <a:prstGeom prst="rect">
            <a:avLst/>
          </a:prstGeom>
          <a:noFill/>
          <a:ln/>
        </p:spPr>
        <p:txBody>
          <a:bodyPr wrap="square" lIns="0" tIns="0" rIns="0" bIns="0" rtlCol="0" anchor="ctr"/>
          <a:lstStyle/>
          <a:p>
            <a:pPr indent="0" marL="0">
              <a:buNone/>
            </a:pPr>
            <a:r>
              <a:rPr lang="en-US" sz="1050" i="1" dirty="0">
                <a:solidFill>
                  <a:srgbClr val="5A6672"/>
                </a:solidFill>
                <a:latin typeface="Calibri" pitchFamily="34" charset="0"/>
                <a:ea typeface="Calibri" pitchFamily="34" charset="-122"/>
                <a:cs typeface="Calibri" pitchFamily="34" charset="-120"/>
              </a:rPr>
              <a:t>Look at box C: every echo-hunter is red, every other animal is grey. There is no exception.</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548640" y="310896"/>
            <a:ext cx="11064240" cy="566928"/>
          </a:xfrm>
          <a:prstGeom prst="rect">
            <a:avLst/>
          </a:prstGeom>
          <a:noFill/>
          <a:ln/>
        </p:spPr>
        <p:txBody>
          <a:bodyPr wrap="square" lIns="0" tIns="0" rIns="0" bIns="0" rtlCol="0" anchor="ctr"/>
          <a:lstStyle/>
          <a:p>
            <a:pPr indent="0" marL="0">
              <a:buNone/>
            </a:pPr>
            <a:r>
              <a:rPr lang="en-US" sz="3200" b="1" dirty="0">
                <a:solidFill>
                  <a:srgbClr val="10243A"/>
                </a:solidFill>
                <a:latin typeface="Cambria" pitchFamily="34" charset="0"/>
                <a:ea typeface="Cambria" pitchFamily="34" charset="-122"/>
                <a:cs typeface="Cambria" pitchFamily="34" charset="-120"/>
              </a:rPr>
              <a:t>Result 2: the pan-genome graph</a:t>
            </a:r>
            <a:endParaRPr lang="en-US" sz="3200" dirty="0"/>
          </a:p>
        </p:txBody>
      </p:sp>
      <p:sp>
        <p:nvSpPr>
          <p:cNvPr id="3" name="Text 1"/>
          <p:cNvSpPr/>
          <p:nvPr/>
        </p:nvSpPr>
        <p:spPr>
          <a:xfrm>
            <a:off x="566928" y="896112"/>
            <a:ext cx="11064240" cy="310896"/>
          </a:xfrm>
          <a:prstGeom prst="rect">
            <a:avLst/>
          </a:prstGeom>
          <a:noFill/>
          <a:ln/>
        </p:spPr>
        <p:txBody>
          <a:bodyPr wrap="square" lIns="0" tIns="0" rIns="0" bIns="0" rtlCol="0" anchor="ctr"/>
          <a:lstStyle/>
          <a:p>
            <a:pPr indent="0" marL="0">
              <a:buNone/>
            </a:pPr>
            <a:r>
              <a:rPr lang="en-US" sz="1400" dirty="0">
                <a:solidFill>
                  <a:srgbClr val="5A6672"/>
                </a:solidFill>
                <a:latin typeface="Calibri" pitchFamily="34" charset="0"/>
                <a:ea typeface="Calibri" pitchFamily="34" charset="-122"/>
                <a:cs typeface="Calibri" pitchFamily="34" charset="-120"/>
              </a:rPr>
              <a:t>Parts that are the same in all 10 animals share one box. Parts that differ open a bubble.</a:t>
            </a:r>
            <a:endParaRPr lang="en-US" sz="1400" dirty="0"/>
          </a:p>
        </p:txBody>
      </p:sp>
      <p:sp>
        <p:nvSpPr>
          <p:cNvPr id="4" name="Shape 2"/>
          <p:cNvSpPr/>
          <p:nvPr/>
        </p:nvSpPr>
        <p:spPr>
          <a:xfrm>
            <a:off x="566928" y="1280160"/>
            <a:ext cx="7635240" cy="3236976"/>
          </a:xfrm>
          <a:prstGeom prst="roundRect">
            <a:avLst>
              <a:gd name="adj" fmla="val 2260"/>
            </a:avLst>
          </a:prstGeom>
          <a:solidFill>
            <a:srgbClr val="FFFFFF"/>
          </a:solidFill>
          <a:ln/>
          <a:effectLst>
            <a:outerShdw sx="100000" sy="100000" kx="0" ky="0" algn="bl" rotWithShape="0" blurRad="127000" dist="19050" dir="5400000">
              <a:srgbClr val="9BA9B8">
                <a:alpha val="30000"/>
              </a:srgbClr>
            </a:outerShdw>
          </a:effectLst>
        </p:spPr>
      </p:sp>
      <p:pic>
        <p:nvPicPr>
          <p:cNvPr id="5" name="Image 0" descr="C:\Users\varad\AppData\Local\Temp\claude\C--Users-varad-OneDrive-Desktop-final-bio\5a01b15e-87b4-4afb-9bbf-d8d6ec6e1673\scratchpad\assets\graph.png">    </p:cNvPr>
          <p:cNvPicPr>
            <a:picLocks noChangeAspect="1"/>
          </p:cNvPicPr>
          <p:nvPr/>
        </p:nvPicPr>
        <p:blipFill>
          <a:blip r:embed="rId1"/>
          <a:stretch>
            <a:fillRect/>
          </a:stretch>
        </p:blipFill>
        <p:spPr>
          <a:xfrm>
            <a:off x="658368" y="1371600"/>
            <a:ext cx="7452360" cy="3054096"/>
          </a:xfrm>
          <a:prstGeom prst="rect">
            <a:avLst/>
          </a:prstGeom>
        </p:spPr>
      </p:pic>
      <p:sp>
        <p:nvSpPr>
          <p:cNvPr id="6" name="Shape 3"/>
          <p:cNvSpPr/>
          <p:nvPr/>
        </p:nvSpPr>
        <p:spPr>
          <a:xfrm>
            <a:off x="566928" y="4681728"/>
            <a:ext cx="7635240" cy="1737360"/>
          </a:xfrm>
          <a:prstGeom prst="roundRect">
            <a:avLst>
              <a:gd name="adj" fmla="val 5263"/>
            </a:avLst>
          </a:prstGeom>
          <a:solidFill>
            <a:srgbClr val="FFFFFF"/>
          </a:solidFill>
          <a:ln/>
          <a:effectLst>
            <a:outerShdw sx="100000" sy="100000" kx="0" ky="0" algn="bl" rotWithShape="0" blurRad="127000" dist="19050" dir="5400000">
              <a:srgbClr val="9BA9B8">
                <a:alpha val="28000"/>
              </a:srgbClr>
            </a:outerShdw>
          </a:effectLst>
        </p:spPr>
      </p:sp>
      <p:pic>
        <p:nvPicPr>
          <p:cNvPr id="7" name="Image 1" descr="C:\Users\varad\AppData\Local\Temp\claude\C--Users-varad-OneDrive-Desktop-final-bio\5a01b15e-87b4-4afb-9bbf-d8d6ec6e1673\scratchpad\assets\heaps.png">    </p:cNvPr>
          <p:cNvPicPr>
            <a:picLocks noChangeAspect="1"/>
          </p:cNvPicPr>
          <p:nvPr/>
        </p:nvPicPr>
        <p:blipFill>
          <a:blip r:embed="rId2"/>
          <a:stretch>
            <a:fillRect/>
          </a:stretch>
        </p:blipFill>
        <p:spPr>
          <a:xfrm>
            <a:off x="749808" y="4828032"/>
            <a:ext cx="1472184" cy="1426464"/>
          </a:xfrm>
          <a:prstGeom prst="rect">
            <a:avLst/>
          </a:prstGeom>
        </p:spPr>
      </p:pic>
      <p:sp>
        <p:nvSpPr>
          <p:cNvPr id="8" name="Text 4"/>
          <p:cNvSpPr/>
          <p:nvPr/>
        </p:nvSpPr>
        <p:spPr>
          <a:xfrm>
            <a:off x="2395728" y="4828032"/>
            <a:ext cx="5577840" cy="310896"/>
          </a:xfrm>
          <a:prstGeom prst="rect">
            <a:avLst/>
          </a:prstGeom>
          <a:noFill/>
          <a:ln/>
        </p:spPr>
        <p:txBody>
          <a:bodyPr wrap="square" lIns="0" tIns="0" rIns="0" bIns="0" rtlCol="0" anchor="t"/>
          <a:lstStyle/>
          <a:p>
            <a:pPr indent="0" marL="0">
              <a:buNone/>
            </a:pPr>
            <a:r>
              <a:rPr lang="en-US" sz="1400" b="1" dirty="0">
                <a:solidFill>
                  <a:srgbClr val="10243A"/>
                </a:solidFill>
                <a:latin typeface="Cambria" pitchFamily="34" charset="0"/>
                <a:ea typeface="Cambria" pitchFamily="34" charset="-122"/>
                <a:cs typeface="Cambria" pitchFamily="34" charset="-120"/>
              </a:rPr>
              <a:t>Does adding more animals keep adding new DNA?</a:t>
            </a:r>
            <a:endParaRPr lang="en-US" sz="1400" dirty="0"/>
          </a:p>
        </p:txBody>
      </p:sp>
      <p:sp>
        <p:nvSpPr>
          <p:cNvPr id="9" name="Text 5"/>
          <p:cNvSpPr/>
          <p:nvPr/>
        </p:nvSpPr>
        <p:spPr>
          <a:xfrm>
            <a:off x="2395728" y="5138928"/>
            <a:ext cx="5669280" cy="274320"/>
          </a:xfrm>
          <a:prstGeom prst="rect">
            <a:avLst/>
          </a:prstGeom>
          <a:noFill/>
          <a:ln/>
        </p:spPr>
        <p:txBody>
          <a:bodyPr wrap="square" lIns="0" tIns="0" rIns="0" bIns="0" rtlCol="0" anchor="t"/>
          <a:lstStyle/>
          <a:p>
            <a:pPr indent="0" marL="0">
              <a:lnSpc>
                <a:spcPts val="1400"/>
              </a:lnSpc>
              <a:buNone/>
            </a:pPr>
            <a:r>
              <a:rPr lang="en-US" sz="1100" dirty="0">
                <a:solidFill>
                  <a:srgbClr val="5A6672"/>
                </a:solidFill>
                <a:latin typeface="Calibri" pitchFamily="34" charset="0"/>
                <a:ea typeface="Calibri" pitchFamily="34" charset="-122"/>
                <a:cs typeface="Calibri" pitchFamily="34" charset="-120"/>
              </a:rPr>
              <a:t>Yes at the DNA level, much less at the protein level.</a:t>
            </a:r>
            <a:endParaRPr lang="en-US" sz="1100" dirty="0"/>
          </a:p>
        </p:txBody>
      </p:sp>
      <p:sp>
        <p:nvSpPr>
          <p:cNvPr id="10" name="Text 6"/>
          <p:cNvSpPr/>
          <p:nvPr/>
        </p:nvSpPr>
        <p:spPr>
          <a:xfrm>
            <a:off x="2395728" y="5440680"/>
            <a:ext cx="868680" cy="384048"/>
          </a:xfrm>
          <a:prstGeom prst="rect">
            <a:avLst/>
          </a:prstGeom>
          <a:noFill/>
          <a:ln/>
        </p:spPr>
        <p:txBody>
          <a:bodyPr wrap="square" lIns="0" tIns="0" rIns="0" bIns="0" rtlCol="0" anchor="ctr"/>
          <a:lstStyle/>
          <a:p>
            <a:pPr indent="0" marL="0">
              <a:buNone/>
            </a:pPr>
            <a:r>
              <a:rPr lang="en-US" sz="2100" b="1" dirty="0">
                <a:solidFill>
                  <a:srgbClr val="C1272D"/>
                </a:solidFill>
                <a:latin typeface="Cambria" pitchFamily="34" charset="0"/>
                <a:ea typeface="Cambria" pitchFamily="34" charset="-122"/>
                <a:cs typeface="Cambria" pitchFamily="34" charset="-120"/>
              </a:rPr>
              <a:t>0.86</a:t>
            </a:r>
            <a:endParaRPr lang="en-US" sz="2100" dirty="0"/>
          </a:p>
        </p:txBody>
      </p:sp>
      <p:sp>
        <p:nvSpPr>
          <p:cNvPr id="11" name="Text 7"/>
          <p:cNvSpPr/>
          <p:nvPr/>
        </p:nvSpPr>
        <p:spPr>
          <a:xfrm>
            <a:off x="3200400" y="5468112"/>
            <a:ext cx="2103120" cy="384048"/>
          </a:xfrm>
          <a:prstGeom prst="rect">
            <a:avLst/>
          </a:prstGeom>
          <a:noFill/>
          <a:ln/>
        </p:spPr>
        <p:txBody>
          <a:bodyPr wrap="square" lIns="0" tIns="0" rIns="0" bIns="0" rtlCol="0" anchor="ctr"/>
          <a:lstStyle/>
          <a:p>
            <a:pPr indent="0" marL="0">
              <a:buNone/>
            </a:pPr>
            <a:r>
              <a:rPr lang="en-US" sz="1000" dirty="0">
                <a:solidFill>
                  <a:srgbClr val="1B2733"/>
                </a:solidFill>
                <a:latin typeface="Calibri" pitchFamily="34" charset="0"/>
                <a:ea typeface="Calibri" pitchFamily="34" charset="-122"/>
                <a:cs typeface="Calibri" pitchFamily="34" charset="-120"/>
              </a:rPr>
              <a:t>DNA — almost all new each time</a:t>
            </a:r>
            <a:endParaRPr lang="en-US" sz="1000" dirty="0"/>
          </a:p>
        </p:txBody>
      </p:sp>
      <p:sp>
        <p:nvSpPr>
          <p:cNvPr id="12" name="Text 8"/>
          <p:cNvSpPr/>
          <p:nvPr/>
        </p:nvSpPr>
        <p:spPr>
          <a:xfrm>
            <a:off x="5184648" y="5440680"/>
            <a:ext cx="868680" cy="384048"/>
          </a:xfrm>
          <a:prstGeom prst="rect">
            <a:avLst/>
          </a:prstGeom>
          <a:noFill/>
          <a:ln/>
        </p:spPr>
        <p:txBody>
          <a:bodyPr wrap="square" lIns="0" tIns="0" rIns="0" bIns="0" rtlCol="0" anchor="ctr"/>
          <a:lstStyle/>
          <a:p>
            <a:pPr indent="0" marL="0">
              <a:buNone/>
            </a:pPr>
            <a:r>
              <a:rPr lang="en-US" sz="2100" b="1" dirty="0">
                <a:solidFill>
                  <a:srgbClr val="2E7DD1"/>
                </a:solidFill>
                <a:latin typeface="Cambria" pitchFamily="34" charset="0"/>
                <a:ea typeface="Cambria" pitchFamily="34" charset="-122"/>
                <a:cs typeface="Cambria" pitchFamily="34" charset="-120"/>
              </a:rPr>
              <a:t>0.40</a:t>
            </a:r>
            <a:endParaRPr lang="en-US" sz="2100" dirty="0"/>
          </a:p>
        </p:txBody>
      </p:sp>
      <p:sp>
        <p:nvSpPr>
          <p:cNvPr id="13" name="Text 9"/>
          <p:cNvSpPr/>
          <p:nvPr/>
        </p:nvSpPr>
        <p:spPr>
          <a:xfrm>
            <a:off x="5989320" y="5468112"/>
            <a:ext cx="2103120" cy="384048"/>
          </a:xfrm>
          <a:prstGeom prst="rect">
            <a:avLst/>
          </a:prstGeom>
          <a:noFill/>
          <a:ln/>
        </p:spPr>
        <p:txBody>
          <a:bodyPr wrap="square" lIns="0" tIns="0" rIns="0" bIns="0" rtlCol="0" anchor="ctr"/>
          <a:lstStyle/>
          <a:p>
            <a:pPr indent="0" marL="0">
              <a:buNone/>
            </a:pPr>
            <a:r>
              <a:rPr lang="en-US" sz="1000" dirty="0">
                <a:solidFill>
                  <a:srgbClr val="1B2733"/>
                </a:solidFill>
                <a:latin typeface="Calibri" pitchFamily="34" charset="0"/>
                <a:ea typeface="Calibri" pitchFamily="34" charset="-122"/>
                <a:cs typeface="Calibri" pitchFamily="34" charset="-120"/>
              </a:rPr>
              <a:t>protein — a shared core stays</a:t>
            </a:r>
            <a:endParaRPr lang="en-US" sz="1000" dirty="0"/>
          </a:p>
        </p:txBody>
      </p:sp>
      <p:sp>
        <p:nvSpPr>
          <p:cNvPr id="14" name="Text 10"/>
          <p:cNvSpPr/>
          <p:nvPr/>
        </p:nvSpPr>
        <p:spPr>
          <a:xfrm>
            <a:off x="2395728" y="5870448"/>
            <a:ext cx="5669280" cy="457200"/>
          </a:xfrm>
          <a:prstGeom prst="rect">
            <a:avLst/>
          </a:prstGeom>
          <a:noFill/>
          <a:ln/>
        </p:spPr>
        <p:txBody>
          <a:bodyPr wrap="square" lIns="0" tIns="0" rIns="0" bIns="0" rtlCol="0" anchor="t"/>
          <a:lstStyle/>
          <a:p>
            <a:pPr indent="0" marL="0">
              <a:lnSpc>
                <a:spcPts val="1200"/>
              </a:lnSpc>
              <a:buNone/>
            </a:pPr>
            <a:r>
              <a:rPr lang="en-US" sz="950" i="1" dirty="0">
                <a:solidFill>
                  <a:srgbClr val="5A6672"/>
                </a:solidFill>
                <a:latin typeface="Calibri" pitchFamily="34" charset="0"/>
                <a:ea typeface="Calibri" pitchFamily="34" charset="-122"/>
                <a:cs typeface="Calibri" pitchFamily="34" charset="-120"/>
              </a:rPr>
              <a:t>The animals split apart over 100 million years ago, so the exact DNA letters differ a lot — but the protein has stayed similar.</a:t>
            </a:r>
            <a:endParaRPr lang="en-US" sz="950" dirty="0"/>
          </a:p>
        </p:txBody>
      </p:sp>
      <p:sp>
        <p:nvSpPr>
          <p:cNvPr id="15" name="Shape 11"/>
          <p:cNvSpPr/>
          <p:nvPr/>
        </p:nvSpPr>
        <p:spPr>
          <a:xfrm>
            <a:off x="8375904" y="1371600"/>
            <a:ext cx="3255264" cy="877824"/>
          </a:xfrm>
          <a:prstGeom prst="roundRect">
            <a:avLst>
              <a:gd name="adj" fmla="val 10417"/>
            </a:avLst>
          </a:prstGeom>
          <a:solidFill>
            <a:srgbClr val="FFFFFF"/>
          </a:solidFill>
          <a:ln/>
          <a:effectLst>
            <a:outerShdw sx="100000" sy="100000" kx="0" ky="0" algn="bl" rotWithShape="0" blurRad="127000" dist="19050" dir="5400000">
              <a:srgbClr val="9BA9B8">
                <a:alpha val="28000"/>
              </a:srgbClr>
            </a:outerShdw>
          </a:effectLst>
        </p:spPr>
      </p:sp>
      <p:sp>
        <p:nvSpPr>
          <p:cNvPr id="16" name="Text 12"/>
          <p:cNvSpPr/>
          <p:nvPr/>
        </p:nvSpPr>
        <p:spPr>
          <a:xfrm>
            <a:off x="8613648" y="1444752"/>
            <a:ext cx="1371600" cy="457200"/>
          </a:xfrm>
          <a:prstGeom prst="rect">
            <a:avLst/>
          </a:prstGeom>
          <a:noFill/>
          <a:ln/>
        </p:spPr>
        <p:txBody>
          <a:bodyPr wrap="square" lIns="0" tIns="0" rIns="0" bIns="0" rtlCol="0" anchor="ctr"/>
          <a:lstStyle/>
          <a:p>
            <a:pPr indent="0" marL="0">
              <a:buNone/>
            </a:pPr>
            <a:r>
              <a:rPr lang="en-US" sz="2200" b="1" dirty="0">
                <a:solidFill>
                  <a:srgbClr val="2E7DD1"/>
                </a:solidFill>
                <a:latin typeface="Cambria" pitchFamily="34" charset="0"/>
                <a:ea typeface="Cambria" pitchFamily="34" charset="-122"/>
                <a:cs typeface="Cambria" pitchFamily="34" charset="-120"/>
              </a:rPr>
              <a:t>1,615</a:t>
            </a:r>
            <a:endParaRPr lang="en-US" sz="2200" dirty="0"/>
          </a:p>
        </p:txBody>
      </p:sp>
      <p:sp>
        <p:nvSpPr>
          <p:cNvPr id="17" name="Text 13"/>
          <p:cNvSpPr/>
          <p:nvPr/>
        </p:nvSpPr>
        <p:spPr>
          <a:xfrm>
            <a:off x="9802368" y="1499616"/>
            <a:ext cx="1737360" cy="548640"/>
          </a:xfrm>
          <a:prstGeom prst="rect">
            <a:avLst/>
          </a:prstGeom>
          <a:noFill/>
          <a:ln/>
        </p:spPr>
        <p:txBody>
          <a:bodyPr wrap="square" lIns="0" tIns="0" rIns="0" bIns="0" rtlCol="0" anchor="ctr"/>
          <a:lstStyle/>
          <a:p>
            <a:pPr indent="0" marL="0">
              <a:buNone/>
            </a:pPr>
            <a:r>
              <a:rPr lang="en-US" sz="1000" dirty="0">
                <a:solidFill>
                  <a:srgbClr val="5A6672"/>
                </a:solidFill>
                <a:latin typeface="Calibri" pitchFamily="34" charset="0"/>
                <a:ea typeface="Calibri" pitchFamily="34" charset="-122"/>
                <a:cs typeface="Calibri" pitchFamily="34" charset="-120"/>
              </a:rPr>
              <a:t>boxes in the graph</a:t>
            </a:r>
            <a:endParaRPr lang="en-US" sz="1000" dirty="0"/>
          </a:p>
        </p:txBody>
      </p:sp>
      <p:sp>
        <p:nvSpPr>
          <p:cNvPr id="18" name="Shape 14"/>
          <p:cNvSpPr/>
          <p:nvPr/>
        </p:nvSpPr>
        <p:spPr>
          <a:xfrm>
            <a:off x="8375904" y="2395728"/>
            <a:ext cx="3255264" cy="877824"/>
          </a:xfrm>
          <a:prstGeom prst="roundRect">
            <a:avLst>
              <a:gd name="adj" fmla="val 10417"/>
            </a:avLst>
          </a:prstGeom>
          <a:solidFill>
            <a:srgbClr val="FFFFFF"/>
          </a:solidFill>
          <a:ln/>
          <a:effectLst>
            <a:outerShdw sx="100000" sy="100000" kx="0" ky="0" algn="bl" rotWithShape="0" blurRad="127000" dist="19050" dir="5400000">
              <a:srgbClr val="9BA9B8">
                <a:alpha val="28000"/>
              </a:srgbClr>
            </a:outerShdw>
          </a:effectLst>
        </p:spPr>
      </p:sp>
      <p:sp>
        <p:nvSpPr>
          <p:cNvPr id="19" name="Text 15"/>
          <p:cNvSpPr/>
          <p:nvPr/>
        </p:nvSpPr>
        <p:spPr>
          <a:xfrm>
            <a:off x="8613648" y="2468880"/>
            <a:ext cx="1371600" cy="457200"/>
          </a:xfrm>
          <a:prstGeom prst="rect">
            <a:avLst/>
          </a:prstGeom>
          <a:noFill/>
          <a:ln/>
        </p:spPr>
        <p:txBody>
          <a:bodyPr wrap="square" lIns="0" tIns="0" rIns="0" bIns="0" rtlCol="0" anchor="ctr"/>
          <a:lstStyle/>
          <a:p>
            <a:pPr indent="0" marL="0">
              <a:buNone/>
            </a:pPr>
            <a:r>
              <a:rPr lang="en-US" sz="2200" b="1" dirty="0">
                <a:solidFill>
                  <a:srgbClr val="F0A202"/>
                </a:solidFill>
                <a:latin typeface="Cambria" pitchFamily="34" charset="0"/>
                <a:ea typeface="Cambria" pitchFamily="34" charset="-122"/>
                <a:cs typeface="Cambria" pitchFamily="34" charset="-120"/>
              </a:rPr>
              <a:t>458</a:t>
            </a:r>
            <a:endParaRPr lang="en-US" sz="2200" dirty="0"/>
          </a:p>
        </p:txBody>
      </p:sp>
      <p:sp>
        <p:nvSpPr>
          <p:cNvPr id="20" name="Text 16"/>
          <p:cNvSpPr/>
          <p:nvPr/>
        </p:nvSpPr>
        <p:spPr>
          <a:xfrm>
            <a:off x="9802368" y="2523744"/>
            <a:ext cx="1737360" cy="548640"/>
          </a:xfrm>
          <a:prstGeom prst="rect">
            <a:avLst/>
          </a:prstGeom>
          <a:noFill/>
          <a:ln/>
        </p:spPr>
        <p:txBody>
          <a:bodyPr wrap="square" lIns="0" tIns="0" rIns="0" bIns="0" rtlCol="0" anchor="ctr"/>
          <a:lstStyle/>
          <a:p>
            <a:pPr indent="0" marL="0">
              <a:buNone/>
            </a:pPr>
            <a:r>
              <a:rPr lang="en-US" sz="1000" dirty="0">
                <a:solidFill>
                  <a:srgbClr val="5A6672"/>
                </a:solidFill>
                <a:latin typeface="Calibri" pitchFamily="34" charset="0"/>
                <a:ea typeface="Calibri" pitchFamily="34" charset="-122"/>
                <a:cs typeface="Calibri" pitchFamily="34" charset="-120"/>
              </a:rPr>
              <a:t>bubbles (differences)</a:t>
            </a:r>
            <a:endParaRPr lang="en-US" sz="1000" dirty="0"/>
          </a:p>
        </p:txBody>
      </p:sp>
      <p:sp>
        <p:nvSpPr>
          <p:cNvPr id="21" name="Shape 17"/>
          <p:cNvSpPr/>
          <p:nvPr/>
        </p:nvSpPr>
        <p:spPr>
          <a:xfrm>
            <a:off x="8375904" y="3419856"/>
            <a:ext cx="3255264" cy="877824"/>
          </a:xfrm>
          <a:prstGeom prst="roundRect">
            <a:avLst>
              <a:gd name="adj" fmla="val 10417"/>
            </a:avLst>
          </a:prstGeom>
          <a:solidFill>
            <a:srgbClr val="FFFFFF"/>
          </a:solidFill>
          <a:ln/>
          <a:effectLst>
            <a:outerShdw sx="100000" sy="100000" kx="0" ky="0" algn="bl" rotWithShape="0" blurRad="127000" dist="19050" dir="5400000">
              <a:srgbClr val="9BA9B8">
                <a:alpha val="28000"/>
              </a:srgbClr>
            </a:outerShdw>
          </a:effectLst>
        </p:spPr>
      </p:sp>
      <p:sp>
        <p:nvSpPr>
          <p:cNvPr id="22" name="Text 18"/>
          <p:cNvSpPr/>
          <p:nvPr/>
        </p:nvSpPr>
        <p:spPr>
          <a:xfrm>
            <a:off x="8613648" y="3493008"/>
            <a:ext cx="1371600" cy="457200"/>
          </a:xfrm>
          <a:prstGeom prst="rect">
            <a:avLst/>
          </a:prstGeom>
          <a:noFill/>
          <a:ln/>
        </p:spPr>
        <p:txBody>
          <a:bodyPr wrap="square" lIns="0" tIns="0" rIns="0" bIns="0" rtlCol="0" anchor="ctr"/>
          <a:lstStyle/>
          <a:p>
            <a:pPr indent="0" marL="0">
              <a:buNone/>
            </a:pPr>
            <a:r>
              <a:rPr lang="en-US" sz="2200" b="1" dirty="0">
                <a:solidFill>
                  <a:srgbClr val="C1272D"/>
                </a:solidFill>
                <a:latin typeface="Cambria" pitchFamily="34" charset="0"/>
                <a:ea typeface="Cambria" pitchFamily="34" charset="-122"/>
                <a:cs typeface="Cambria" pitchFamily="34" charset="-120"/>
              </a:rPr>
              <a:t>3</a:t>
            </a:r>
            <a:endParaRPr lang="en-US" sz="2200" dirty="0"/>
          </a:p>
        </p:txBody>
      </p:sp>
      <p:sp>
        <p:nvSpPr>
          <p:cNvPr id="23" name="Text 19"/>
          <p:cNvSpPr/>
          <p:nvPr/>
        </p:nvSpPr>
        <p:spPr>
          <a:xfrm>
            <a:off x="9802368" y="3547872"/>
            <a:ext cx="1737360" cy="548640"/>
          </a:xfrm>
          <a:prstGeom prst="rect">
            <a:avLst/>
          </a:prstGeom>
          <a:noFill/>
          <a:ln/>
        </p:spPr>
        <p:txBody>
          <a:bodyPr wrap="square" lIns="0" tIns="0" rIns="0" bIns="0" rtlCol="0" anchor="ctr"/>
          <a:lstStyle/>
          <a:p>
            <a:pPr indent="0" marL="0">
              <a:buNone/>
            </a:pPr>
            <a:r>
              <a:rPr lang="en-US" sz="1000" dirty="0">
                <a:solidFill>
                  <a:srgbClr val="5A6672"/>
                </a:solidFill>
                <a:latin typeface="Calibri" pitchFamily="34" charset="0"/>
                <a:ea typeface="Calibri" pitchFamily="34" charset="-122"/>
                <a:cs typeface="Calibri" pitchFamily="34" charset="-120"/>
              </a:rPr>
              <a:t>bubbles with extra letters</a:t>
            </a:r>
            <a:endParaRPr lang="en-US" sz="1000" dirty="0"/>
          </a:p>
        </p:txBody>
      </p:sp>
      <p:sp>
        <p:nvSpPr>
          <p:cNvPr id="24" name="Shape 20"/>
          <p:cNvSpPr/>
          <p:nvPr/>
        </p:nvSpPr>
        <p:spPr>
          <a:xfrm>
            <a:off x="8375904" y="4480560"/>
            <a:ext cx="3255264" cy="1938528"/>
          </a:xfrm>
          <a:prstGeom prst="roundRect">
            <a:avLst>
              <a:gd name="adj" fmla="val 4717"/>
            </a:avLst>
          </a:prstGeom>
          <a:solidFill>
            <a:srgbClr val="10243A"/>
          </a:solidFill>
          <a:ln/>
          <a:effectLst>
            <a:outerShdw sx="100000" sy="100000" kx="0" ky="0" algn="bl" rotWithShape="0" blurRad="127000" dist="19050" dir="5400000">
              <a:srgbClr val="9BA9B8">
                <a:alpha val="28000"/>
              </a:srgbClr>
            </a:outerShdw>
          </a:effectLst>
        </p:spPr>
      </p:sp>
      <p:sp>
        <p:nvSpPr>
          <p:cNvPr id="25" name="Text 21"/>
          <p:cNvSpPr/>
          <p:nvPr/>
        </p:nvSpPr>
        <p:spPr>
          <a:xfrm>
            <a:off x="8613648" y="4608576"/>
            <a:ext cx="2743200" cy="603504"/>
          </a:xfrm>
          <a:prstGeom prst="rect">
            <a:avLst/>
          </a:prstGeom>
          <a:noFill/>
          <a:ln/>
        </p:spPr>
        <p:txBody>
          <a:bodyPr wrap="square" lIns="0" tIns="0" rIns="0" bIns="0" rtlCol="0" anchor="ctr"/>
          <a:lstStyle/>
          <a:p>
            <a:pPr indent="0" marL="0">
              <a:buNone/>
            </a:pPr>
            <a:r>
              <a:rPr lang="en-US" sz="3800" b="1" dirty="0">
                <a:solidFill>
                  <a:srgbClr val="F0A202"/>
                </a:solidFill>
                <a:latin typeface="Cambria" pitchFamily="34" charset="0"/>
                <a:ea typeface="Cambria" pitchFamily="34" charset="-122"/>
                <a:cs typeface="Cambria" pitchFamily="34" charset="-120"/>
              </a:rPr>
              <a:t>36%</a:t>
            </a:r>
            <a:endParaRPr lang="en-US" sz="3800" dirty="0"/>
          </a:p>
        </p:txBody>
      </p:sp>
      <p:sp>
        <p:nvSpPr>
          <p:cNvPr id="26" name="Text 22"/>
          <p:cNvSpPr/>
          <p:nvPr/>
        </p:nvSpPr>
        <p:spPr>
          <a:xfrm>
            <a:off x="8613648" y="5230368"/>
            <a:ext cx="2798064" cy="1097280"/>
          </a:xfrm>
          <a:prstGeom prst="rect">
            <a:avLst/>
          </a:prstGeom>
          <a:noFill/>
          <a:ln/>
        </p:spPr>
        <p:txBody>
          <a:bodyPr wrap="square" lIns="0" tIns="0" rIns="0" bIns="0" rtlCol="0" anchor="t"/>
          <a:lstStyle/>
          <a:p>
            <a:pPr indent="0" marL="0">
              <a:lnSpc>
                <a:spcPts val="1400"/>
              </a:lnSpc>
              <a:buNone/>
            </a:pPr>
            <a:r>
              <a:rPr lang="en-US" sz="1050" dirty="0">
                <a:solidFill>
                  <a:srgbClr val="C6D4E4"/>
                </a:solidFill>
                <a:latin typeface="Calibri" pitchFamily="34" charset="0"/>
                <a:ea typeface="Calibri" pitchFamily="34" charset="-122"/>
                <a:cs typeface="Calibri" pitchFamily="34" charset="-120"/>
              </a:rPr>
              <a:t>of the DNA in our graph is not present in the human version. A method that uses only the human genome would miss all of it.</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0243A"/>
        </a:solidFill>
      </p:bgPr>
    </p:bg>
    <p:spTree>
      <p:nvGrpSpPr>
        <p:cNvPr id="1" name=""/>
        <p:cNvGrpSpPr/>
        <p:nvPr/>
      </p:nvGrpSpPr>
      <p:grpSpPr>
        <a:xfrm>
          <a:off x="0" y="0"/>
          <a:ext cx="0" cy="0"/>
          <a:chOff x="0" y="0"/>
          <a:chExt cx="0" cy="0"/>
        </a:xfrm>
      </p:grpSpPr>
      <p:sp>
        <p:nvSpPr>
          <p:cNvPr id="2" name="Text 0"/>
          <p:cNvSpPr/>
          <p:nvPr/>
        </p:nvSpPr>
        <p:spPr>
          <a:xfrm>
            <a:off x="548640" y="310896"/>
            <a:ext cx="11064240" cy="566928"/>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Conclusion</a:t>
            </a:r>
            <a:endParaRPr lang="en-US" sz="3200" dirty="0"/>
          </a:p>
        </p:txBody>
      </p:sp>
      <p:sp>
        <p:nvSpPr>
          <p:cNvPr id="3" name="Text 1"/>
          <p:cNvSpPr/>
          <p:nvPr/>
        </p:nvSpPr>
        <p:spPr>
          <a:xfrm>
            <a:off x="566928" y="896112"/>
            <a:ext cx="11064240" cy="310896"/>
          </a:xfrm>
          <a:prstGeom prst="rect">
            <a:avLst/>
          </a:prstGeom>
          <a:noFill/>
          <a:ln/>
        </p:spPr>
        <p:txBody>
          <a:bodyPr wrap="square" lIns="0" tIns="0" rIns="0" bIns="0" rtlCol="0" anchor="ctr"/>
          <a:lstStyle/>
          <a:p>
            <a:pPr indent="0" marL="0">
              <a:buNone/>
            </a:pPr>
            <a:r>
              <a:rPr lang="en-US" sz="1400" dirty="0">
                <a:solidFill>
                  <a:srgbClr val="9FC1E8"/>
                </a:solidFill>
                <a:latin typeface="Calibri" pitchFamily="34" charset="0"/>
                <a:ea typeface="Calibri" pitchFamily="34" charset="-122"/>
                <a:cs typeface="Calibri" pitchFamily="34" charset="-120"/>
              </a:rPr>
              <a:t>What we found, and what it means.</a:t>
            </a:r>
            <a:endParaRPr lang="en-US" sz="1400" dirty="0"/>
          </a:p>
        </p:txBody>
      </p:sp>
      <p:sp>
        <p:nvSpPr>
          <p:cNvPr id="4" name="Shape 2"/>
          <p:cNvSpPr/>
          <p:nvPr/>
        </p:nvSpPr>
        <p:spPr>
          <a:xfrm>
            <a:off x="548640" y="1463040"/>
            <a:ext cx="8001000" cy="2788920"/>
          </a:xfrm>
          <a:prstGeom prst="roundRect">
            <a:avLst>
              <a:gd name="adj" fmla="val 3279"/>
            </a:avLst>
          </a:prstGeom>
          <a:solidFill>
            <a:srgbClr val="1B3A5C"/>
          </a:solidFill>
          <a:ln/>
          <a:effectLst>
            <a:outerShdw sx="100000" sy="100000" kx="0" ky="0" algn="bl" rotWithShape="0" blurRad="127000" dist="19050" dir="5400000">
              <a:srgbClr val="9BA9B8">
                <a:alpha val="28000"/>
              </a:srgbClr>
            </a:outerShdw>
          </a:effectLst>
        </p:spPr>
      </p:sp>
      <p:sp>
        <p:nvSpPr>
          <p:cNvPr id="5" name="Text 3"/>
          <p:cNvSpPr/>
          <p:nvPr/>
        </p:nvSpPr>
        <p:spPr>
          <a:xfrm>
            <a:off x="777240" y="1600200"/>
            <a:ext cx="1691640" cy="365760"/>
          </a:xfrm>
          <a:prstGeom prst="rect">
            <a:avLst/>
          </a:prstGeom>
          <a:noFill/>
          <a:ln/>
        </p:spPr>
        <p:txBody>
          <a:bodyPr wrap="square" lIns="0" tIns="0" rIns="0" bIns="0" rtlCol="0" anchor="ctr"/>
          <a:lstStyle/>
          <a:p>
            <a:pPr indent="0" marL="0">
              <a:buNone/>
            </a:pPr>
            <a:r>
              <a:rPr lang="en-US" sz="950" b="1" spc="120" kern="0" dirty="0">
                <a:solidFill>
                  <a:srgbClr val="F0A202"/>
                </a:solidFill>
                <a:latin typeface="Calibri" pitchFamily="34" charset="0"/>
                <a:ea typeface="Calibri" pitchFamily="34" charset="-122"/>
                <a:cs typeface="Calibri" pitchFamily="34" charset="-120"/>
              </a:rPr>
              <a:t>GENE</a:t>
            </a:r>
            <a:endParaRPr lang="en-US" sz="950" dirty="0"/>
          </a:p>
        </p:txBody>
      </p:sp>
      <p:sp>
        <p:nvSpPr>
          <p:cNvPr id="6" name="Text 4"/>
          <p:cNvSpPr/>
          <p:nvPr/>
        </p:nvSpPr>
        <p:spPr>
          <a:xfrm>
            <a:off x="2468880" y="1600200"/>
            <a:ext cx="2423160" cy="365760"/>
          </a:xfrm>
          <a:prstGeom prst="rect">
            <a:avLst/>
          </a:prstGeom>
          <a:noFill/>
          <a:ln/>
        </p:spPr>
        <p:txBody>
          <a:bodyPr wrap="square" lIns="0" tIns="0" rIns="0" bIns="0" rtlCol="0" anchor="ctr"/>
          <a:lstStyle/>
          <a:p>
            <a:pPr indent="0" marL="0">
              <a:buNone/>
            </a:pPr>
            <a:r>
              <a:rPr lang="en-US" sz="950" b="1" spc="120" kern="0" dirty="0">
                <a:solidFill>
                  <a:srgbClr val="F0A202"/>
                </a:solidFill>
                <a:latin typeface="Calibri" pitchFamily="34" charset="0"/>
                <a:ea typeface="Calibri" pitchFamily="34" charset="-122"/>
                <a:cs typeface="Calibri" pitchFamily="34" charset="-120"/>
              </a:rPr>
              <a:t>WHAT IT DOES</a:t>
            </a:r>
            <a:endParaRPr lang="en-US" sz="950" dirty="0"/>
          </a:p>
        </p:txBody>
      </p:sp>
      <p:sp>
        <p:nvSpPr>
          <p:cNvPr id="7" name="Text 5"/>
          <p:cNvSpPr/>
          <p:nvPr/>
        </p:nvSpPr>
        <p:spPr>
          <a:xfrm>
            <a:off x="4892040" y="1600200"/>
            <a:ext cx="1051560" cy="365760"/>
          </a:xfrm>
          <a:prstGeom prst="rect">
            <a:avLst/>
          </a:prstGeom>
          <a:noFill/>
          <a:ln/>
        </p:spPr>
        <p:txBody>
          <a:bodyPr wrap="square" lIns="0" tIns="0" rIns="0" bIns="0" rtlCol="0" anchor="ctr"/>
          <a:lstStyle/>
          <a:p>
            <a:pPr indent="0" marL="0">
              <a:buNone/>
            </a:pPr>
            <a:r>
              <a:rPr lang="en-US" sz="950" b="1" spc="120" kern="0" dirty="0">
                <a:solidFill>
                  <a:srgbClr val="F0A202"/>
                </a:solidFill>
                <a:latin typeface="Calibri" pitchFamily="34" charset="0"/>
                <a:ea typeface="Calibri" pitchFamily="34" charset="-122"/>
                <a:cs typeface="Calibri" pitchFamily="34" charset="-120"/>
              </a:rPr>
              <a:t>SPOTS</a:t>
            </a:r>
            <a:endParaRPr lang="en-US" sz="950" dirty="0"/>
          </a:p>
        </p:txBody>
      </p:sp>
      <p:sp>
        <p:nvSpPr>
          <p:cNvPr id="8" name="Text 6"/>
          <p:cNvSpPr/>
          <p:nvPr/>
        </p:nvSpPr>
        <p:spPr>
          <a:xfrm>
            <a:off x="5943600" y="1600200"/>
            <a:ext cx="1143000" cy="365760"/>
          </a:xfrm>
          <a:prstGeom prst="rect">
            <a:avLst/>
          </a:prstGeom>
          <a:noFill/>
          <a:ln/>
        </p:spPr>
        <p:txBody>
          <a:bodyPr wrap="square" lIns="0" tIns="0" rIns="0" bIns="0" rtlCol="0" anchor="ctr"/>
          <a:lstStyle/>
          <a:p>
            <a:pPr indent="0" marL="0">
              <a:buNone/>
            </a:pPr>
            <a:r>
              <a:rPr lang="en-US" sz="950" b="1" spc="120" kern="0" dirty="0">
                <a:solidFill>
                  <a:srgbClr val="F0A202"/>
                </a:solidFill>
                <a:latin typeface="Calibri" pitchFamily="34" charset="0"/>
                <a:ea typeface="Calibri" pitchFamily="34" charset="-122"/>
                <a:cs typeface="Calibri" pitchFamily="34" charset="-120"/>
              </a:rPr>
              <a:t>BY CHANCE?</a:t>
            </a:r>
            <a:endParaRPr lang="en-US" sz="950" dirty="0"/>
          </a:p>
        </p:txBody>
      </p:sp>
      <p:sp>
        <p:nvSpPr>
          <p:cNvPr id="9" name="Text 7"/>
          <p:cNvSpPr/>
          <p:nvPr/>
        </p:nvSpPr>
        <p:spPr>
          <a:xfrm>
            <a:off x="7086600" y="1600200"/>
            <a:ext cx="1280160" cy="365760"/>
          </a:xfrm>
          <a:prstGeom prst="rect">
            <a:avLst/>
          </a:prstGeom>
          <a:noFill/>
          <a:ln/>
        </p:spPr>
        <p:txBody>
          <a:bodyPr wrap="square" lIns="0" tIns="0" rIns="0" bIns="0" rtlCol="0" anchor="ctr"/>
          <a:lstStyle/>
          <a:p>
            <a:pPr indent="0" marL="0">
              <a:buNone/>
            </a:pPr>
            <a:r>
              <a:rPr lang="en-US" sz="950" b="1" spc="120" kern="0" dirty="0">
                <a:solidFill>
                  <a:srgbClr val="F0A202"/>
                </a:solidFill>
                <a:latin typeface="Calibri" pitchFamily="34" charset="0"/>
                <a:ea typeface="Calibri" pitchFamily="34" charset="-122"/>
                <a:cs typeface="Calibri" pitchFamily="34" charset="-120"/>
              </a:rPr>
              <a:t>RESULT</a:t>
            </a:r>
            <a:endParaRPr lang="en-US" sz="950" dirty="0"/>
          </a:p>
        </p:txBody>
      </p:sp>
      <p:sp>
        <p:nvSpPr>
          <p:cNvPr id="10" name="Text 8"/>
          <p:cNvSpPr/>
          <p:nvPr/>
        </p:nvSpPr>
        <p:spPr>
          <a:xfrm>
            <a:off x="777240" y="2048256"/>
            <a:ext cx="1691640" cy="36576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SLC26A5</a:t>
            </a:r>
            <a:endParaRPr lang="en-US" sz="1200" dirty="0"/>
          </a:p>
        </p:txBody>
      </p:sp>
      <p:sp>
        <p:nvSpPr>
          <p:cNvPr id="11" name="Text 9"/>
          <p:cNvSpPr/>
          <p:nvPr/>
        </p:nvSpPr>
        <p:spPr>
          <a:xfrm>
            <a:off x="2468880" y="2048256"/>
            <a:ext cx="2423160" cy="36576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helps the ear hear</a:t>
            </a:r>
            <a:endParaRPr lang="en-US" sz="1200" dirty="0"/>
          </a:p>
        </p:txBody>
      </p:sp>
      <p:sp>
        <p:nvSpPr>
          <p:cNvPr id="12" name="Text 10"/>
          <p:cNvSpPr/>
          <p:nvPr/>
        </p:nvSpPr>
        <p:spPr>
          <a:xfrm>
            <a:off x="4892040" y="2048256"/>
            <a:ext cx="1051560" cy="36576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1"/>
          <p:cNvSpPr/>
          <p:nvPr/>
        </p:nvSpPr>
        <p:spPr>
          <a:xfrm>
            <a:off x="5943600" y="2048256"/>
            <a:ext cx="1143000" cy="36576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0.0127</a:t>
            </a:r>
            <a:endParaRPr lang="en-US" sz="1200" dirty="0"/>
          </a:p>
        </p:txBody>
      </p:sp>
      <p:sp>
        <p:nvSpPr>
          <p:cNvPr id="14" name="Text 12"/>
          <p:cNvSpPr/>
          <p:nvPr/>
        </p:nvSpPr>
        <p:spPr>
          <a:xfrm>
            <a:off x="7086600" y="2048256"/>
            <a:ext cx="1280160" cy="365760"/>
          </a:xfrm>
          <a:prstGeom prst="rect">
            <a:avLst/>
          </a:prstGeom>
          <a:noFill/>
          <a:ln/>
        </p:spPr>
        <p:txBody>
          <a:bodyPr wrap="square" lIns="0" tIns="0" rIns="0" bIns="0" rtlCol="0" anchor="ctr"/>
          <a:lstStyle/>
          <a:p>
            <a:pPr indent="0" marL="0">
              <a:buNone/>
            </a:pPr>
            <a:r>
              <a:rPr lang="en-US" sz="1200" b="1" dirty="0">
                <a:solidFill>
                  <a:srgbClr val="6FD08C"/>
                </a:solidFill>
                <a:latin typeface="Calibri" pitchFamily="34" charset="0"/>
                <a:ea typeface="Calibri" pitchFamily="34" charset="-122"/>
                <a:cs typeface="Calibri" pitchFamily="34" charset="-120"/>
              </a:rPr>
              <a:t>found</a:t>
            </a:r>
            <a:endParaRPr lang="en-US" sz="1200" dirty="0"/>
          </a:p>
        </p:txBody>
      </p:sp>
      <p:sp>
        <p:nvSpPr>
          <p:cNvPr id="15" name="Text 13"/>
          <p:cNvSpPr/>
          <p:nvPr/>
        </p:nvSpPr>
        <p:spPr>
          <a:xfrm>
            <a:off x="777240" y="2496312"/>
            <a:ext cx="1691640" cy="36576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TMC1</a:t>
            </a:r>
            <a:endParaRPr lang="en-US" sz="1200" dirty="0"/>
          </a:p>
        </p:txBody>
      </p:sp>
      <p:sp>
        <p:nvSpPr>
          <p:cNvPr id="16" name="Text 14"/>
          <p:cNvSpPr/>
          <p:nvPr/>
        </p:nvSpPr>
        <p:spPr>
          <a:xfrm>
            <a:off x="2468880" y="2496312"/>
            <a:ext cx="2423160" cy="36576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opens the ear's channel</a:t>
            </a:r>
            <a:endParaRPr lang="en-US" sz="1200" dirty="0"/>
          </a:p>
        </p:txBody>
      </p:sp>
      <p:sp>
        <p:nvSpPr>
          <p:cNvPr id="17" name="Text 15"/>
          <p:cNvSpPr/>
          <p:nvPr/>
        </p:nvSpPr>
        <p:spPr>
          <a:xfrm>
            <a:off x="4892040" y="2496312"/>
            <a:ext cx="1051560" cy="36576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2</a:t>
            </a:r>
            <a:endParaRPr lang="en-US" sz="1200" dirty="0"/>
          </a:p>
        </p:txBody>
      </p:sp>
      <p:sp>
        <p:nvSpPr>
          <p:cNvPr id="18" name="Text 16"/>
          <p:cNvSpPr/>
          <p:nvPr/>
        </p:nvSpPr>
        <p:spPr>
          <a:xfrm>
            <a:off x="5943600" y="2496312"/>
            <a:ext cx="1143000" cy="36576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0.0037</a:t>
            </a:r>
            <a:endParaRPr lang="en-US" sz="1200" dirty="0"/>
          </a:p>
        </p:txBody>
      </p:sp>
      <p:sp>
        <p:nvSpPr>
          <p:cNvPr id="19" name="Text 17"/>
          <p:cNvSpPr/>
          <p:nvPr/>
        </p:nvSpPr>
        <p:spPr>
          <a:xfrm>
            <a:off x="7086600" y="2496312"/>
            <a:ext cx="1280160" cy="365760"/>
          </a:xfrm>
          <a:prstGeom prst="rect">
            <a:avLst/>
          </a:prstGeom>
          <a:noFill/>
          <a:ln/>
        </p:spPr>
        <p:txBody>
          <a:bodyPr wrap="square" lIns="0" tIns="0" rIns="0" bIns="0" rtlCol="0" anchor="ctr"/>
          <a:lstStyle/>
          <a:p>
            <a:pPr indent="0" marL="0">
              <a:buNone/>
            </a:pPr>
            <a:r>
              <a:rPr lang="en-US" sz="1200" b="1" dirty="0">
                <a:solidFill>
                  <a:srgbClr val="6FD08C"/>
                </a:solidFill>
                <a:latin typeface="Calibri" pitchFamily="34" charset="0"/>
                <a:ea typeface="Calibri" pitchFamily="34" charset="-122"/>
                <a:cs typeface="Calibri" pitchFamily="34" charset="-120"/>
              </a:rPr>
              <a:t>found</a:t>
            </a:r>
            <a:endParaRPr lang="en-US" sz="1200" dirty="0"/>
          </a:p>
        </p:txBody>
      </p:sp>
      <p:sp>
        <p:nvSpPr>
          <p:cNvPr id="20" name="Text 18"/>
          <p:cNvSpPr/>
          <p:nvPr/>
        </p:nvSpPr>
        <p:spPr>
          <a:xfrm>
            <a:off x="777240" y="2944368"/>
            <a:ext cx="1691640" cy="36576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OTOF</a:t>
            </a:r>
            <a:endParaRPr lang="en-US" sz="1200" dirty="0"/>
          </a:p>
        </p:txBody>
      </p:sp>
      <p:sp>
        <p:nvSpPr>
          <p:cNvPr id="21" name="Text 19"/>
          <p:cNvSpPr/>
          <p:nvPr/>
        </p:nvSpPr>
        <p:spPr>
          <a:xfrm>
            <a:off x="2468880" y="2944368"/>
            <a:ext cx="2423160" cy="36576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sends the ear's signal</a:t>
            </a:r>
            <a:endParaRPr lang="en-US" sz="1200" dirty="0"/>
          </a:p>
        </p:txBody>
      </p:sp>
      <p:sp>
        <p:nvSpPr>
          <p:cNvPr id="22" name="Text 20"/>
          <p:cNvSpPr/>
          <p:nvPr/>
        </p:nvSpPr>
        <p:spPr>
          <a:xfrm>
            <a:off x="4892040" y="2944368"/>
            <a:ext cx="1051560" cy="36576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3</a:t>
            </a:r>
            <a:endParaRPr lang="en-US" sz="1200" dirty="0"/>
          </a:p>
        </p:txBody>
      </p:sp>
      <p:sp>
        <p:nvSpPr>
          <p:cNvPr id="23" name="Text 21"/>
          <p:cNvSpPr/>
          <p:nvPr/>
        </p:nvSpPr>
        <p:spPr>
          <a:xfrm>
            <a:off x="5943600" y="2944368"/>
            <a:ext cx="1143000" cy="36576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0.0352</a:t>
            </a:r>
            <a:endParaRPr lang="en-US" sz="1200" dirty="0"/>
          </a:p>
        </p:txBody>
      </p:sp>
      <p:sp>
        <p:nvSpPr>
          <p:cNvPr id="24" name="Text 22"/>
          <p:cNvSpPr/>
          <p:nvPr/>
        </p:nvSpPr>
        <p:spPr>
          <a:xfrm>
            <a:off x="7086600" y="2944368"/>
            <a:ext cx="1280160" cy="365760"/>
          </a:xfrm>
          <a:prstGeom prst="rect">
            <a:avLst/>
          </a:prstGeom>
          <a:noFill/>
          <a:ln/>
        </p:spPr>
        <p:txBody>
          <a:bodyPr wrap="square" lIns="0" tIns="0" rIns="0" bIns="0" rtlCol="0" anchor="ctr"/>
          <a:lstStyle/>
          <a:p>
            <a:pPr indent="0" marL="0">
              <a:buNone/>
            </a:pPr>
            <a:r>
              <a:rPr lang="en-US" sz="1200" b="1" dirty="0">
                <a:solidFill>
                  <a:srgbClr val="6FD08C"/>
                </a:solidFill>
                <a:latin typeface="Calibri" pitchFamily="34" charset="0"/>
                <a:ea typeface="Calibri" pitchFamily="34" charset="-122"/>
                <a:cs typeface="Calibri" pitchFamily="34" charset="-120"/>
              </a:rPr>
              <a:t>found</a:t>
            </a:r>
            <a:endParaRPr lang="en-US" sz="1200" dirty="0"/>
          </a:p>
        </p:txBody>
      </p:sp>
      <p:sp>
        <p:nvSpPr>
          <p:cNvPr id="25" name="Text 23"/>
          <p:cNvSpPr/>
          <p:nvPr/>
        </p:nvSpPr>
        <p:spPr>
          <a:xfrm>
            <a:off x="777240" y="3392424"/>
            <a:ext cx="1691640" cy="365760"/>
          </a:xfrm>
          <a:prstGeom prst="rect">
            <a:avLst/>
          </a:prstGeom>
          <a:noFill/>
          <a:ln/>
        </p:spPr>
        <p:txBody>
          <a:bodyPr wrap="square" lIns="0" tIns="0" rIns="0" bIns="0" rtlCol="0" anchor="ctr"/>
          <a:lstStyle/>
          <a:p>
            <a:pPr indent="0" marL="0">
              <a:buNone/>
            </a:pPr>
            <a:r>
              <a:rPr lang="en-US" sz="1200" b="1" dirty="0">
                <a:solidFill>
                  <a:srgbClr val="8FA6BE"/>
                </a:solidFill>
                <a:latin typeface="Calibri" pitchFamily="34" charset="0"/>
                <a:ea typeface="Calibri" pitchFamily="34" charset="-122"/>
                <a:cs typeface="Calibri" pitchFamily="34" charset="-120"/>
              </a:rPr>
              <a:t>GAPDH</a:t>
            </a:r>
            <a:endParaRPr lang="en-US" sz="1200" dirty="0"/>
          </a:p>
        </p:txBody>
      </p:sp>
      <p:sp>
        <p:nvSpPr>
          <p:cNvPr id="26" name="Text 24"/>
          <p:cNvSpPr/>
          <p:nvPr/>
        </p:nvSpPr>
        <p:spPr>
          <a:xfrm>
            <a:off x="2468880" y="3392424"/>
            <a:ext cx="2423160" cy="365760"/>
          </a:xfrm>
          <a:prstGeom prst="rect">
            <a:avLst/>
          </a:prstGeom>
          <a:noFill/>
          <a:ln/>
        </p:spPr>
        <p:txBody>
          <a:bodyPr wrap="square" lIns="0" tIns="0" rIns="0" bIns="0" rtlCol="0" anchor="ctr"/>
          <a:lstStyle/>
          <a:p>
            <a:pPr indent="0" marL="0">
              <a:buNone/>
            </a:pPr>
            <a:r>
              <a:rPr lang="en-US" sz="1200" dirty="0">
                <a:solidFill>
                  <a:srgbClr val="8FA6BE"/>
                </a:solidFill>
                <a:latin typeface="Calibri" pitchFamily="34" charset="0"/>
                <a:ea typeface="Calibri" pitchFamily="34" charset="-122"/>
                <a:cs typeface="Calibri" pitchFamily="34" charset="-120"/>
              </a:rPr>
              <a:t>nothing to do with ears</a:t>
            </a:r>
            <a:endParaRPr lang="en-US" sz="1200" dirty="0"/>
          </a:p>
        </p:txBody>
      </p:sp>
      <p:sp>
        <p:nvSpPr>
          <p:cNvPr id="27" name="Text 25"/>
          <p:cNvSpPr/>
          <p:nvPr/>
        </p:nvSpPr>
        <p:spPr>
          <a:xfrm>
            <a:off x="4892040" y="3392424"/>
            <a:ext cx="1051560" cy="365760"/>
          </a:xfrm>
          <a:prstGeom prst="rect">
            <a:avLst/>
          </a:prstGeom>
          <a:noFill/>
          <a:ln/>
        </p:spPr>
        <p:txBody>
          <a:bodyPr wrap="square" lIns="0" tIns="0" rIns="0" bIns="0" rtlCol="0" anchor="ctr"/>
          <a:lstStyle/>
          <a:p>
            <a:pPr indent="0" marL="0">
              <a:buNone/>
            </a:pPr>
            <a:r>
              <a:rPr lang="en-US" sz="1200" dirty="0">
                <a:solidFill>
                  <a:srgbClr val="8FA6BE"/>
                </a:solidFill>
                <a:latin typeface="Calibri" pitchFamily="34" charset="0"/>
                <a:ea typeface="Calibri" pitchFamily="34" charset="-122"/>
                <a:cs typeface="Calibri" pitchFamily="34" charset="-120"/>
              </a:rPr>
              <a:t>0</a:t>
            </a:r>
            <a:endParaRPr lang="en-US" sz="1200" dirty="0"/>
          </a:p>
        </p:txBody>
      </p:sp>
      <p:sp>
        <p:nvSpPr>
          <p:cNvPr id="28" name="Text 26"/>
          <p:cNvSpPr/>
          <p:nvPr/>
        </p:nvSpPr>
        <p:spPr>
          <a:xfrm>
            <a:off x="5943600" y="3392424"/>
            <a:ext cx="1143000" cy="365760"/>
          </a:xfrm>
          <a:prstGeom prst="rect">
            <a:avLst/>
          </a:prstGeom>
          <a:noFill/>
          <a:ln/>
        </p:spPr>
        <p:txBody>
          <a:bodyPr wrap="square" lIns="0" tIns="0" rIns="0" bIns="0" rtlCol="0" anchor="ctr"/>
          <a:lstStyle/>
          <a:p>
            <a:pPr indent="0" marL="0">
              <a:buNone/>
            </a:pPr>
            <a:r>
              <a:rPr lang="en-US" sz="1200" dirty="0">
                <a:solidFill>
                  <a:srgbClr val="8FA6BE"/>
                </a:solidFill>
                <a:latin typeface="Calibri" pitchFamily="34" charset="0"/>
                <a:ea typeface="Calibri" pitchFamily="34" charset="-122"/>
                <a:cs typeface="Calibri" pitchFamily="34" charset="-120"/>
              </a:rPr>
              <a:t>1.0000</a:t>
            </a:r>
            <a:endParaRPr lang="en-US" sz="1200" dirty="0"/>
          </a:p>
        </p:txBody>
      </p:sp>
      <p:sp>
        <p:nvSpPr>
          <p:cNvPr id="29" name="Text 27"/>
          <p:cNvSpPr/>
          <p:nvPr/>
        </p:nvSpPr>
        <p:spPr>
          <a:xfrm>
            <a:off x="7086600" y="3392424"/>
            <a:ext cx="1280160" cy="365760"/>
          </a:xfrm>
          <a:prstGeom prst="rect">
            <a:avLst/>
          </a:prstGeom>
          <a:noFill/>
          <a:ln/>
        </p:spPr>
        <p:txBody>
          <a:bodyPr wrap="square" lIns="0" tIns="0" rIns="0" bIns="0" rtlCol="0" anchor="ctr"/>
          <a:lstStyle/>
          <a:p>
            <a:pPr indent="0" marL="0">
              <a:buNone/>
            </a:pPr>
            <a:r>
              <a:rPr lang="en-US" sz="1200" b="1" dirty="0">
                <a:solidFill>
                  <a:srgbClr val="8FA6BE"/>
                </a:solidFill>
                <a:latin typeface="Calibri" pitchFamily="34" charset="0"/>
                <a:ea typeface="Calibri" pitchFamily="34" charset="-122"/>
                <a:cs typeface="Calibri" pitchFamily="34" charset="-120"/>
              </a:rPr>
              <a:t>nothing</a:t>
            </a:r>
            <a:endParaRPr lang="en-US" sz="1200" dirty="0"/>
          </a:p>
        </p:txBody>
      </p:sp>
      <p:sp>
        <p:nvSpPr>
          <p:cNvPr id="30" name="Text 28"/>
          <p:cNvSpPr/>
          <p:nvPr/>
        </p:nvSpPr>
        <p:spPr>
          <a:xfrm>
            <a:off x="777240" y="3840480"/>
            <a:ext cx="1691640" cy="365760"/>
          </a:xfrm>
          <a:prstGeom prst="rect">
            <a:avLst/>
          </a:prstGeom>
          <a:noFill/>
          <a:ln/>
        </p:spPr>
        <p:txBody>
          <a:bodyPr wrap="square" lIns="0" tIns="0" rIns="0" bIns="0" rtlCol="0" anchor="ctr"/>
          <a:lstStyle/>
          <a:p>
            <a:pPr indent="0" marL="0">
              <a:buNone/>
            </a:pPr>
            <a:r>
              <a:rPr lang="en-US" sz="1200" b="1" dirty="0">
                <a:solidFill>
                  <a:srgbClr val="8FA6BE"/>
                </a:solidFill>
                <a:latin typeface="Calibri" pitchFamily="34" charset="0"/>
                <a:ea typeface="Calibri" pitchFamily="34" charset="-122"/>
                <a:cs typeface="Calibri" pitchFamily="34" charset="-120"/>
              </a:rPr>
              <a:t>MB</a:t>
            </a:r>
            <a:endParaRPr lang="en-US" sz="1200" dirty="0"/>
          </a:p>
        </p:txBody>
      </p:sp>
      <p:sp>
        <p:nvSpPr>
          <p:cNvPr id="31" name="Text 29"/>
          <p:cNvSpPr/>
          <p:nvPr/>
        </p:nvSpPr>
        <p:spPr>
          <a:xfrm>
            <a:off x="2468880" y="3840480"/>
            <a:ext cx="2423160" cy="365760"/>
          </a:xfrm>
          <a:prstGeom prst="rect">
            <a:avLst/>
          </a:prstGeom>
          <a:noFill/>
          <a:ln/>
        </p:spPr>
        <p:txBody>
          <a:bodyPr wrap="square" lIns="0" tIns="0" rIns="0" bIns="0" rtlCol="0" anchor="ctr"/>
          <a:lstStyle/>
          <a:p>
            <a:pPr indent="0" marL="0">
              <a:buNone/>
            </a:pPr>
            <a:r>
              <a:rPr lang="en-US" sz="1200" dirty="0">
                <a:solidFill>
                  <a:srgbClr val="8FA6BE"/>
                </a:solidFill>
                <a:latin typeface="Calibri" pitchFamily="34" charset="0"/>
                <a:ea typeface="Calibri" pitchFamily="34" charset="-122"/>
                <a:cs typeface="Calibri" pitchFamily="34" charset="-120"/>
              </a:rPr>
              <a:t>used for diving, not hearing</a:t>
            </a:r>
            <a:endParaRPr lang="en-US" sz="1200" dirty="0"/>
          </a:p>
        </p:txBody>
      </p:sp>
      <p:sp>
        <p:nvSpPr>
          <p:cNvPr id="32" name="Text 30"/>
          <p:cNvSpPr/>
          <p:nvPr/>
        </p:nvSpPr>
        <p:spPr>
          <a:xfrm>
            <a:off x="4892040" y="3840480"/>
            <a:ext cx="1051560" cy="365760"/>
          </a:xfrm>
          <a:prstGeom prst="rect">
            <a:avLst/>
          </a:prstGeom>
          <a:noFill/>
          <a:ln/>
        </p:spPr>
        <p:txBody>
          <a:bodyPr wrap="square" lIns="0" tIns="0" rIns="0" bIns="0" rtlCol="0" anchor="ctr"/>
          <a:lstStyle/>
          <a:p>
            <a:pPr indent="0" marL="0">
              <a:buNone/>
            </a:pPr>
            <a:r>
              <a:rPr lang="en-US" sz="1200" dirty="0">
                <a:solidFill>
                  <a:srgbClr val="8FA6BE"/>
                </a:solidFill>
                <a:latin typeface="Calibri" pitchFamily="34" charset="0"/>
                <a:ea typeface="Calibri" pitchFamily="34" charset="-122"/>
                <a:cs typeface="Calibri" pitchFamily="34" charset="-120"/>
              </a:rPr>
              <a:t>0</a:t>
            </a:r>
            <a:endParaRPr lang="en-US" sz="1200" dirty="0"/>
          </a:p>
        </p:txBody>
      </p:sp>
      <p:sp>
        <p:nvSpPr>
          <p:cNvPr id="33" name="Text 31"/>
          <p:cNvSpPr/>
          <p:nvPr/>
        </p:nvSpPr>
        <p:spPr>
          <a:xfrm>
            <a:off x="5943600" y="3840480"/>
            <a:ext cx="1143000" cy="365760"/>
          </a:xfrm>
          <a:prstGeom prst="rect">
            <a:avLst/>
          </a:prstGeom>
          <a:noFill/>
          <a:ln/>
        </p:spPr>
        <p:txBody>
          <a:bodyPr wrap="square" lIns="0" tIns="0" rIns="0" bIns="0" rtlCol="0" anchor="ctr"/>
          <a:lstStyle/>
          <a:p>
            <a:pPr indent="0" marL="0">
              <a:buNone/>
            </a:pPr>
            <a:r>
              <a:rPr lang="en-US" sz="1200" dirty="0">
                <a:solidFill>
                  <a:srgbClr val="8FA6BE"/>
                </a:solidFill>
                <a:latin typeface="Calibri" pitchFamily="34" charset="0"/>
                <a:ea typeface="Calibri" pitchFamily="34" charset="-122"/>
                <a:cs typeface="Calibri" pitchFamily="34" charset="-120"/>
              </a:rPr>
              <a:t>1.0000</a:t>
            </a:r>
            <a:endParaRPr lang="en-US" sz="1200" dirty="0"/>
          </a:p>
        </p:txBody>
      </p:sp>
      <p:sp>
        <p:nvSpPr>
          <p:cNvPr id="34" name="Text 32"/>
          <p:cNvSpPr/>
          <p:nvPr/>
        </p:nvSpPr>
        <p:spPr>
          <a:xfrm>
            <a:off x="7086600" y="3840480"/>
            <a:ext cx="1280160" cy="365760"/>
          </a:xfrm>
          <a:prstGeom prst="rect">
            <a:avLst/>
          </a:prstGeom>
          <a:noFill/>
          <a:ln/>
        </p:spPr>
        <p:txBody>
          <a:bodyPr wrap="square" lIns="0" tIns="0" rIns="0" bIns="0" rtlCol="0" anchor="ctr"/>
          <a:lstStyle/>
          <a:p>
            <a:pPr indent="0" marL="0">
              <a:buNone/>
            </a:pPr>
            <a:r>
              <a:rPr lang="en-US" sz="1200" b="1" dirty="0">
                <a:solidFill>
                  <a:srgbClr val="8FA6BE"/>
                </a:solidFill>
                <a:latin typeface="Calibri" pitchFamily="34" charset="0"/>
                <a:ea typeface="Calibri" pitchFamily="34" charset="-122"/>
                <a:cs typeface="Calibri" pitchFamily="34" charset="-120"/>
              </a:rPr>
              <a:t>nothing</a:t>
            </a:r>
            <a:endParaRPr lang="en-US" sz="1200" dirty="0"/>
          </a:p>
        </p:txBody>
      </p:sp>
      <p:sp>
        <p:nvSpPr>
          <p:cNvPr id="35" name="Text 33"/>
          <p:cNvSpPr/>
          <p:nvPr/>
        </p:nvSpPr>
        <p:spPr>
          <a:xfrm>
            <a:off x="777240" y="4343400"/>
            <a:ext cx="7772400" cy="274320"/>
          </a:xfrm>
          <a:prstGeom prst="rect">
            <a:avLst/>
          </a:prstGeom>
          <a:noFill/>
          <a:ln/>
        </p:spPr>
        <p:txBody>
          <a:bodyPr wrap="square" lIns="0" tIns="0" rIns="0" bIns="0" rtlCol="0" anchor="ctr"/>
          <a:lstStyle/>
          <a:p>
            <a:pPr indent="0" marL="0">
              <a:buNone/>
            </a:pPr>
            <a:r>
              <a:rPr lang="en-US" sz="1050" i="1" dirty="0">
                <a:solidFill>
                  <a:srgbClr val="8FA6BE"/>
                </a:solidFill>
                <a:latin typeface="Calibri" pitchFamily="34" charset="0"/>
                <a:ea typeface="Calibri" pitchFamily="34" charset="-122"/>
                <a:cs typeface="Calibri" pitchFamily="34" charset="-120"/>
              </a:rPr>
              <a:t>We ran the same program on five different genes, using the same animals.</a:t>
            </a:r>
            <a:endParaRPr lang="en-US" sz="1050" dirty="0"/>
          </a:p>
        </p:txBody>
      </p:sp>
      <p:sp>
        <p:nvSpPr>
          <p:cNvPr id="36" name="Shape 34"/>
          <p:cNvSpPr/>
          <p:nvPr/>
        </p:nvSpPr>
        <p:spPr>
          <a:xfrm>
            <a:off x="566928" y="4846320"/>
            <a:ext cx="219456" cy="219456"/>
          </a:xfrm>
          <a:prstGeom prst="ellipse">
            <a:avLst/>
          </a:prstGeom>
          <a:solidFill>
            <a:srgbClr val="6FD08C"/>
          </a:solidFill>
          <a:ln/>
        </p:spPr>
      </p:sp>
      <p:sp>
        <p:nvSpPr>
          <p:cNvPr id="37" name="Text 35"/>
          <p:cNvSpPr/>
          <p:nvPr/>
        </p:nvSpPr>
        <p:spPr>
          <a:xfrm>
            <a:off x="932688" y="4800600"/>
            <a:ext cx="3200400" cy="32918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Three ear genes gave the same answer</a:t>
            </a:r>
            <a:endParaRPr lang="en-US" sz="1200" dirty="0"/>
          </a:p>
        </p:txBody>
      </p:sp>
      <p:sp>
        <p:nvSpPr>
          <p:cNvPr id="38" name="Text 36"/>
          <p:cNvSpPr/>
          <p:nvPr/>
        </p:nvSpPr>
        <p:spPr>
          <a:xfrm>
            <a:off x="4206240" y="4782312"/>
            <a:ext cx="4343400" cy="457200"/>
          </a:xfrm>
          <a:prstGeom prst="rect">
            <a:avLst/>
          </a:prstGeom>
          <a:noFill/>
          <a:ln/>
        </p:spPr>
        <p:txBody>
          <a:bodyPr wrap="square" lIns="0" tIns="0" rIns="0" bIns="0" rtlCol="0" anchor="ctr"/>
          <a:lstStyle/>
          <a:p>
            <a:pPr indent="0" marL="0">
              <a:lnSpc>
                <a:spcPts val="1200"/>
              </a:lnSpc>
              <a:buNone/>
            </a:pPr>
            <a:r>
              <a:rPr lang="en-US" sz="980" dirty="0">
                <a:solidFill>
                  <a:srgbClr val="C6D4E4"/>
                </a:solidFill>
                <a:latin typeface="Calibri" pitchFamily="34" charset="0"/>
                <a:ea typeface="Calibri" pitchFamily="34" charset="-122"/>
                <a:cs typeface="Calibri" pitchFamily="34" charset="-120"/>
              </a:rPr>
              <a:t>All three are used for hearing, but in different ways. Each one showed the same kind of change in the echo-hunters.</a:t>
            </a:r>
            <a:endParaRPr lang="en-US" sz="980" dirty="0"/>
          </a:p>
        </p:txBody>
      </p:sp>
      <p:sp>
        <p:nvSpPr>
          <p:cNvPr id="39" name="Shape 37"/>
          <p:cNvSpPr/>
          <p:nvPr/>
        </p:nvSpPr>
        <p:spPr>
          <a:xfrm>
            <a:off x="566928" y="5413248"/>
            <a:ext cx="219456" cy="219456"/>
          </a:xfrm>
          <a:prstGeom prst="ellipse">
            <a:avLst/>
          </a:prstGeom>
          <a:solidFill>
            <a:srgbClr val="F0A202"/>
          </a:solidFill>
          <a:ln/>
        </p:spPr>
      </p:sp>
      <p:sp>
        <p:nvSpPr>
          <p:cNvPr id="40" name="Text 38"/>
          <p:cNvSpPr/>
          <p:nvPr/>
        </p:nvSpPr>
        <p:spPr>
          <a:xfrm>
            <a:off x="932688" y="5367528"/>
            <a:ext cx="3200400" cy="32918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The two check genes stayed empty</a:t>
            </a:r>
            <a:endParaRPr lang="en-US" sz="1200" dirty="0"/>
          </a:p>
        </p:txBody>
      </p:sp>
      <p:sp>
        <p:nvSpPr>
          <p:cNvPr id="41" name="Text 39"/>
          <p:cNvSpPr/>
          <p:nvPr/>
        </p:nvSpPr>
        <p:spPr>
          <a:xfrm>
            <a:off x="4206240" y="5349240"/>
            <a:ext cx="4343400" cy="457200"/>
          </a:xfrm>
          <a:prstGeom prst="rect">
            <a:avLst/>
          </a:prstGeom>
          <a:noFill/>
          <a:ln/>
        </p:spPr>
        <p:txBody>
          <a:bodyPr wrap="square" lIns="0" tIns="0" rIns="0" bIns="0" rtlCol="0" anchor="ctr"/>
          <a:lstStyle/>
          <a:p>
            <a:pPr indent="0" marL="0">
              <a:lnSpc>
                <a:spcPts val="1200"/>
              </a:lnSpc>
              <a:buNone/>
            </a:pPr>
            <a:r>
              <a:rPr lang="en-US" sz="980" dirty="0">
                <a:solidFill>
                  <a:srgbClr val="C6D4E4"/>
                </a:solidFill>
                <a:latin typeface="Calibri" pitchFamily="34" charset="0"/>
                <a:ea typeface="Calibri" pitchFamily="34" charset="-122"/>
                <a:cs typeface="Calibri" pitchFamily="34" charset="-120"/>
              </a:rPr>
              <a:t>A gene with no link to hearing found nothing. This tells us our method is not just finding random noise.</a:t>
            </a:r>
            <a:endParaRPr lang="en-US" sz="980" dirty="0"/>
          </a:p>
        </p:txBody>
      </p:sp>
      <p:sp>
        <p:nvSpPr>
          <p:cNvPr id="42" name="Shape 40"/>
          <p:cNvSpPr/>
          <p:nvPr/>
        </p:nvSpPr>
        <p:spPr>
          <a:xfrm>
            <a:off x="566928" y="5980176"/>
            <a:ext cx="219456" cy="219456"/>
          </a:xfrm>
          <a:prstGeom prst="ellipse">
            <a:avLst/>
          </a:prstGeom>
          <a:solidFill>
            <a:srgbClr val="7FB6EA"/>
          </a:solidFill>
          <a:ln/>
        </p:spPr>
      </p:sp>
      <p:sp>
        <p:nvSpPr>
          <p:cNvPr id="43" name="Text 41"/>
          <p:cNvSpPr/>
          <p:nvPr/>
        </p:nvSpPr>
        <p:spPr>
          <a:xfrm>
            <a:off x="932688" y="5934456"/>
            <a:ext cx="3200400" cy="32918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 graph shows more than one genome can</a:t>
            </a:r>
            <a:endParaRPr lang="en-US" sz="1200" dirty="0"/>
          </a:p>
        </p:txBody>
      </p:sp>
      <p:sp>
        <p:nvSpPr>
          <p:cNvPr id="44" name="Text 42"/>
          <p:cNvSpPr/>
          <p:nvPr/>
        </p:nvSpPr>
        <p:spPr>
          <a:xfrm>
            <a:off x="4206240" y="5916168"/>
            <a:ext cx="4343400" cy="457200"/>
          </a:xfrm>
          <a:prstGeom prst="rect">
            <a:avLst/>
          </a:prstGeom>
          <a:noFill/>
          <a:ln/>
        </p:spPr>
        <p:txBody>
          <a:bodyPr wrap="square" lIns="0" tIns="0" rIns="0" bIns="0" rtlCol="0" anchor="ctr"/>
          <a:lstStyle/>
          <a:p>
            <a:pPr indent="0" marL="0">
              <a:lnSpc>
                <a:spcPts val="1200"/>
              </a:lnSpc>
              <a:buNone/>
            </a:pPr>
            <a:r>
              <a:rPr lang="en-US" sz="980" dirty="0">
                <a:solidFill>
                  <a:srgbClr val="C6D4E4"/>
                </a:solidFill>
                <a:latin typeface="Calibri" pitchFamily="34" charset="0"/>
                <a:ea typeface="Calibri" pitchFamily="34" charset="-122"/>
                <a:cs typeface="Calibri" pitchFamily="34" charset="-120"/>
              </a:rPr>
              <a:t>36% of the DNA in our graph is missing from the human version. Using one genome alone hides real differences.</a:t>
            </a:r>
            <a:endParaRPr lang="en-US" sz="980" dirty="0"/>
          </a:p>
        </p:txBody>
      </p:sp>
      <p:sp>
        <p:nvSpPr>
          <p:cNvPr id="45" name="Shape 43"/>
          <p:cNvSpPr/>
          <p:nvPr/>
        </p:nvSpPr>
        <p:spPr>
          <a:xfrm>
            <a:off x="8823960" y="1463040"/>
            <a:ext cx="2788920" cy="2788920"/>
          </a:xfrm>
          <a:prstGeom prst="roundRect">
            <a:avLst>
              <a:gd name="adj" fmla="val 3279"/>
            </a:avLst>
          </a:prstGeom>
          <a:solidFill>
            <a:srgbClr val="1B3A5C"/>
          </a:solidFill>
          <a:ln/>
          <a:effectLst>
            <a:outerShdw sx="100000" sy="100000" kx="0" ky="0" algn="bl" rotWithShape="0" blurRad="127000" dist="19050" dir="5400000">
              <a:srgbClr val="9BA9B8">
                <a:alpha val="28000"/>
              </a:srgbClr>
            </a:outerShdw>
          </a:effectLst>
        </p:spPr>
      </p:sp>
      <p:sp>
        <p:nvSpPr>
          <p:cNvPr id="46" name="Text 44"/>
          <p:cNvSpPr/>
          <p:nvPr/>
        </p:nvSpPr>
        <p:spPr>
          <a:xfrm>
            <a:off x="9052560" y="1627632"/>
            <a:ext cx="2377440" cy="310896"/>
          </a:xfrm>
          <a:prstGeom prst="rect">
            <a:avLst/>
          </a:prstGeom>
          <a:noFill/>
          <a:ln/>
        </p:spPr>
        <p:txBody>
          <a:bodyPr wrap="square" lIns="0" tIns="0" rIns="0" bIns="0" rtlCol="0" anchor="t"/>
          <a:lstStyle/>
          <a:p>
            <a:pPr indent="0" marL="0">
              <a:buNone/>
            </a:pPr>
            <a:r>
              <a:rPr lang="en-US" sz="1350" b="1" dirty="0">
                <a:solidFill>
                  <a:srgbClr val="F0A202"/>
                </a:solidFill>
                <a:latin typeface="Cambria" pitchFamily="34" charset="0"/>
                <a:ea typeface="Cambria" pitchFamily="34" charset="-122"/>
                <a:cs typeface="Cambria" pitchFamily="34" charset="-120"/>
              </a:rPr>
              <a:t>What we learned</a:t>
            </a:r>
            <a:endParaRPr lang="en-US" sz="1350" dirty="0"/>
          </a:p>
        </p:txBody>
      </p:sp>
      <p:sp>
        <p:nvSpPr>
          <p:cNvPr id="47" name="Text 45"/>
          <p:cNvSpPr/>
          <p:nvPr/>
        </p:nvSpPr>
        <p:spPr>
          <a:xfrm>
            <a:off x="9052560" y="1975104"/>
            <a:ext cx="2377440" cy="2194560"/>
          </a:xfrm>
          <a:prstGeom prst="rect">
            <a:avLst/>
          </a:prstGeom>
          <a:noFill/>
          <a:ln/>
        </p:spPr>
        <p:txBody>
          <a:bodyPr wrap="square" lIns="0" tIns="0" rIns="0" bIns="0" rtlCol="0" anchor="t"/>
          <a:lstStyle/>
          <a:p>
            <a:pPr indent="0" marL="0">
              <a:lnSpc>
                <a:spcPts val="1400"/>
              </a:lnSpc>
              <a:buNone/>
            </a:pPr>
            <a:r>
              <a:rPr lang="en-US" sz="1050" dirty="0">
                <a:solidFill>
                  <a:srgbClr val="C6D4E4"/>
                </a:solidFill>
                <a:latin typeface="Calibri" pitchFamily="34" charset="0"/>
                <a:ea typeface="Calibri" pitchFamily="34" charset="-122"/>
                <a:cs typeface="Calibri" pitchFamily="34" charset="-120"/>
              </a:rPr>
              <a:t>The family tree is what makes the evidence strong. Without it, a shared letter means nothing. And keeping every genome in a graph shows differences that one reference genome would hide.</a:t>
            </a:r>
            <a:endParaRPr lang="en-US" sz="1050" dirty="0"/>
          </a:p>
        </p:txBody>
      </p:sp>
      <p:sp>
        <p:nvSpPr>
          <p:cNvPr id="48" name="Shape 46"/>
          <p:cNvSpPr/>
          <p:nvPr/>
        </p:nvSpPr>
        <p:spPr>
          <a:xfrm>
            <a:off x="8823960" y="4480560"/>
            <a:ext cx="2788920" cy="1938528"/>
          </a:xfrm>
          <a:prstGeom prst="roundRect">
            <a:avLst>
              <a:gd name="adj" fmla="val 4717"/>
            </a:avLst>
          </a:prstGeom>
          <a:solidFill>
            <a:srgbClr val="1B3A5C"/>
          </a:solidFill>
          <a:ln/>
          <a:effectLst>
            <a:outerShdw sx="100000" sy="100000" kx="0" ky="0" algn="bl" rotWithShape="0" blurRad="127000" dist="19050" dir="5400000">
              <a:srgbClr val="9BA9B8">
                <a:alpha val="28000"/>
              </a:srgbClr>
            </a:outerShdw>
          </a:effectLst>
        </p:spPr>
      </p:sp>
      <p:sp>
        <p:nvSpPr>
          <p:cNvPr id="49" name="Text 47"/>
          <p:cNvSpPr/>
          <p:nvPr/>
        </p:nvSpPr>
        <p:spPr>
          <a:xfrm>
            <a:off x="9052560" y="4626864"/>
            <a:ext cx="2377440" cy="310896"/>
          </a:xfrm>
          <a:prstGeom prst="rect">
            <a:avLst/>
          </a:prstGeom>
          <a:noFill/>
          <a:ln/>
        </p:spPr>
        <p:txBody>
          <a:bodyPr wrap="square" lIns="0" tIns="0" rIns="0" bIns="0" rtlCol="0" anchor="t"/>
          <a:lstStyle/>
          <a:p>
            <a:pPr indent="0" marL="0">
              <a:buNone/>
            </a:pPr>
            <a:r>
              <a:rPr lang="en-US" sz="1350" b="1" dirty="0">
                <a:solidFill>
                  <a:srgbClr val="F0A202"/>
                </a:solidFill>
                <a:latin typeface="Cambria" pitchFamily="34" charset="0"/>
                <a:ea typeface="Cambria" pitchFamily="34" charset="-122"/>
                <a:cs typeface="Cambria" pitchFamily="34" charset="-120"/>
              </a:rPr>
              <a:t>Honest limits</a:t>
            </a:r>
            <a:endParaRPr lang="en-US" sz="1350" dirty="0"/>
          </a:p>
        </p:txBody>
      </p:sp>
      <p:sp>
        <p:nvSpPr>
          <p:cNvPr id="50" name="Text 48"/>
          <p:cNvSpPr/>
          <p:nvPr/>
        </p:nvSpPr>
        <p:spPr>
          <a:xfrm>
            <a:off x="9052560" y="4956048"/>
            <a:ext cx="2377440" cy="1371600"/>
          </a:xfrm>
          <a:prstGeom prst="rect">
            <a:avLst/>
          </a:prstGeom>
          <a:noFill/>
          <a:ln/>
        </p:spPr>
        <p:txBody>
          <a:bodyPr wrap="square" lIns="0" tIns="0" rIns="0" bIns="0" rtlCol="0" anchor="t"/>
          <a:lstStyle/>
          <a:p>
            <a:pPr marL="342900" indent="-342900">
              <a:lnSpc>
                <a:spcPts val="1250"/>
              </a:lnSpc>
              <a:buSzPct val="100000"/>
              <a:buChar char="•"/>
            </a:pPr>
            <a:r>
              <a:rPr lang="en-US" sz="950" dirty="0">
                <a:solidFill>
                  <a:srgbClr val="C6D4E4"/>
                </a:solidFill>
                <a:latin typeface="Calibri" pitchFamily="34" charset="0"/>
                <a:ea typeface="Calibri" pitchFamily="34" charset="-122"/>
                <a:cs typeface="Calibri" pitchFamily="34" charset="-120"/>
              </a:rPr>
              <a:t>We used one gene and 10 animals, not whole genomes.
</a:t>
            </a:r>
            <a:pPr indent="0" marL="0">
              <a:lnSpc>
                <a:spcPts val="1250"/>
              </a:lnSpc>
              <a:buNone/>
            </a:pPr>
            <a:r>
              <a:rPr lang="en-US" sz="950" dirty="0">
                <a:solidFill>
                  <a:srgbClr val="C6D4E4"/>
                </a:solidFill>
                <a:latin typeface="Calibri" pitchFamily="34" charset="0"/>
                <a:ea typeface="Calibri" pitchFamily="34" charset="-122"/>
                <a:cs typeface="Calibri" pitchFamily="34" charset="-120"/>
              </a:rPr>
              <a:t>Our test is simple compared to professional tools.
</a:t>
            </a:r>
            <a:pPr indent="0" marL="0">
              <a:lnSpc>
                <a:spcPts val="1250"/>
              </a:lnSpc>
              <a:buNone/>
            </a:pPr>
            <a:r>
              <a:rPr lang="en-US" sz="950" dirty="0">
                <a:solidFill>
                  <a:srgbClr val="C6D4E4"/>
                </a:solidFill>
                <a:latin typeface="Calibri" pitchFamily="34" charset="0"/>
                <a:ea typeface="Calibri" pitchFamily="34" charset="-122"/>
                <a:cs typeface="Calibri" pitchFamily="34" charset="-120"/>
              </a:rPr>
              <a:t>This finds good suspects — it does not prove cause.</a:t>
            </a:r>
            <a:endParaRPr lang="en-US" sz="950" dirty="0"/>
          </a:p>
        </p:txBody>
      </p:sp>
      <p:sp>
        <p:nvSpPr>
          <p:cNvPr id="51" name="Text 49"/>
          <p:cNvSpPr/>
          <p:nvPr/>
        </p:nvSpPr>
        <p:spPr>
          <a:xfrm>
            <a:off x="548640" y="6473952"/>
            <a:ext cx="11064240" cy="274320"/>
          </a:xfrm>
          <a:prstGeom prst="rect">
            <a:avLst/>
          </a:prstGeom>
          <a:noFill/>
          <a:ln/>
        </p:spPr>
        <p:txBody>
          <a:bodyPr wrap="square" lIns="0" tIns="0" rIns="0" bIns="0" rtlCol="0" anchor="ctr"/>
          <a:lstStyle/>
          <a:p>
            <a:pPr indent="0" marL="0">
              <a:buNone/>
            </a:pPr>
            <a:r>
              <a:rPr lang="en-US" sz="1000" dirty="0">
                <a:solidFill>
                  <a:srgbClr val="7A93AD"/>
                </a:solidFill>
                <a:latin typeface="Calibri" pitchFamily="34" charset="0"/>
                <a:ea typeface="Calibri" pitchFamily="34" charset="-122"/>
                <a:cs typeface="Calibri" pitchFamily="34" charset="-120"/>
              </a:rPr>
              <a:t>Vaishnavi Magadum  ·  Adarsh Madivala  ·  Bhavya Pandya  ·  Avatar Pacharane  ·  Sakshi Paradkar</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Trees to Traits</dc:title>
  <dc:subject>PptxGenJS Presentation</dc:subject>
  <dc:creator>Vaishnavi Magadum, Adarsh Madivala, Bhavya Pandya, Avatar Pacharane, Sakshi Paradkar</dc:creator>
  <cp:lastModifiedBy>Vaishnavi Magadum, Adarsh Madivala, Bhavya Pandya, Avatar Pacharane, Sakshi Paradkar</cp:lastModifiedBy>
  <cp:revision>1</cp:revision>
  <dcterms:created xsi:type="dcterms:W3CDTF">2026-08-21T15:23:37Z</dcterms:created>
  <dcterms:modified xsi:type="dcterms:W3CDTF">2026-08-21T15:23:37Z</dcterms:modified>
</cp:coreProperties>
</file>